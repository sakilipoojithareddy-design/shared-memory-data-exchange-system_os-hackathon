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D383EA7-D62F-6E4E-AB19-C313CC687C21}">
          <p14:sldIdLst>
            <p14:sldId id="256"/>
          </p14:sldIdLst>
        </p14:section>
        <p14:section name="Concept" id="{E82E3AD1-3D7D-F180-C124-09FBC4CC400D}">
          <p14:sldIdLst>
            <p14:sldId id="257"/>
            <p14:sldId id="258"/>
          </p14:sldIdLst>
        </p14:section>
        <p14:section name="Design" id="{73AFDB61-CF00-C9F9-5F3C-0A71E986B945}">
          <p14:sldIdLst>
            <p14:sldId id="259"/>
            <p14:sldId id="260"/>
          </p14:sldIdLst>
        </p14:section>
        <p14:section name="Demo and Wrap-up" id="{01E65B1C-BA2E-FFEB-5C6A-4AED0ED78905}">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7427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We are Team 17 from Section 9, and our OS Hackathon project is the 'Shared Memory Based Data Exchange System'.
In one sentence: we built a small application where two processes exchange data through shared memory, and we use a semaphore so the data stays consistent. We also connected it to a simple web page so the demo is easy to run and see.
Introduce team members here: Nikhitha (2520030033), Poojitha (2520030110), and add any other team member's name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simple fact: in an operating system, each process gets its own private memory. One process cannot just read another process's variables.
But real programs often need to cooperate, so processes must exchange data somehow.
The danger is when two processes touch the same data at the same time. One may be half-way through writing while the other reads, and the result is wrong or corrupted data. This is called a race condition.
So our problem is: how can processes share data in a way that is easy AND safe?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objectives were simple: let processes exchange data through shared memory, keep that data consistent with a semaphore, and show it all in a small demo that anyone can run from a web page.
Two key ideas in easy words:
1) Shared memory is a region of memory that more than one process can access. Think of it as a shared whiteboard that both processes can write on and read from.
2) Data consistency means the data is always correct. We make sure of this by letting processes take turns, like passing around a single marker, so nobody reads half-written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whole system from top to bottom.
At the top, the user opens our React + Vite web page and clicks a button. That sends a request to the Express.js backend, which runs our C demo program.
Inside the C program, the parent process calls fork() to create a child process. Both processes use one shared memory region: the child writes a message into it, and the parent reads it.
The named semaphore acts as a traffic light: only one process uses the shared memory at a time, which keeps the data consistent. Finally, the program's output is sent back through the backend and shown on the webpage.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building blocks, in beginner-friendly terms.
shm_open() creates or opens a shared memory object with a name, so different processes can find the same one.
ftruncate() sets how big that shared memory is, and mmap() maps it into the process's address space so we can read and write it like ordinary memory.
fork() makes a copy of the running process. The original is the parent and the new one is the child. Both can use the shared memory.
The named semaphore is our coordination tool. A process waits until it is its turn, uses the memory, and then signals that it is finished. [Tip: if your code uses specific calls such as sem_open, sem_wait and sem_post, point to them in your source code here.]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demo. [Open the webpage and click the button live, or show the screenshot.]
Walk through the steps: the user clicks the run button, the Express backend starts our C program, the child process writes a message into the shared memory, and the parent process waits for its turn using the semaphore and then reads that message. The output appears on the webpage.
The result is exactly what we wanted: the parent receives the message the child wrote, through shared memory.
Before presenting, add your screenshot in the grey placeholder box. We have not included any timing or performance numbers because we did not measure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our project shows that processes can exchange data safely through POSIX shared memory. A child process writes a message, the parent reads it, and a named semaphore keeps access coordinated. We also connected this C demo to a React and Express web page so it can be run with one click.
The right-hand side lists ideas for the future. Please note these are only proposals; we have NOT implemented them: supporting more than one child, exchanging larger or structured messages, adding more error handling, and showing more status on the webpage.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548640" y="1143000"/>
            <a:ext cx="5212080" cy="146304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endParaRPr lang="en-US" sz="3400" dirty="0"/>
          </a:p>
        </p:txBody>
      </p:sp>
      <p:sp>
        <p:nvSpPr>
          <p:cNvPr id="4" name="Text 1"/>
          <p:cNvSpPr>
            <a:spLocks noGrp="1"/>
          </p:cNvSpPr>
          <p:nvPr>
            <p:ph type="body" idx="102" hasCustomPrompt="1"/>
          </p:nvPr>
        </p:nvSpPr>
        <p:spPr>
          <a:xfrm>
            <a:off x="548640" y="2697480"/>
            <a:ext cx="5212080" cy="365760"/>
          </a:xfrm>
          <a:prstGeom prst="rect">
            <a:avLst/>
          </a:prstGeom>
          <a:noFill/>
          <a:ln/>
        </p:spPr>
        <p:txBody>
          <a:bodyPr wrap="square" rtlCol="0"/>
          <a:lstStyle>
            <a:lvl1pPr marL="0" indent="0" algn="l">
              <a:buNone/>
              <a:defRPr lang="en-US" sz="1800" dirty="0">
                <a:solidFill>
                  <a:schemeClr val="accent6"/>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457200" y="4800600"/>
            <a:ext cx="6858000" cy="274320"/>
          </a:xfrm>
          <a:prstGeom prst="rect">
            <a:avLst/>
          </a:prstGeom>
          <a:noFill/>
          <a:ln/>
        </p:spPr>
        <p:txBody>
          <a:bodyPr wrap="square" lIns="0" tIns="0" rIns="0" bIns="0" rtlCol="0" anchor="ctr"/>
          <a:lstStyle/>
          <a:p>
            <a:pPr marL="0" indent="0">
              <a:buNone/>
            </a:pPr>
            <a:r>
              <a:rPr lang="en-US" sz="1000" dirty="0">
                <a:solidFill>
                  <a:schemeClr val="accent5"/>
                </a:solidFill>
              </a:rPr>
              <a:t>Shared Memory Based Data Exchange System  |  OS Hackathon  |  Team 17</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a:spLocks noGrp="1"/>
          </p:cNvSpPr>
          <p:nvPr>
            <p:ph type="title" idx="101" hasCustomPrompt="1"/>
          </p:nvPr>
        </p:nvSpPr>
        <p:spPr>
          <a:xfrm>
            <a:off x="457200" y="320040"/>
            <a:ext cx="8229600" cy="68580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4" name="Text 1"/>
          <p:cNvSpPr/>
          <p:nvPr/>
        </p:nvSpPr>
        <p:spPr>
          <a:xfrm>
            <a:off x="457200" y="4800600"/>
            <a:ext cx="6858000" cy="274320"/>
          </a:xfrm>
          <a:prstGeom prst="rect">
            <a:avLst/>
          </a:prstGeom>
          <a:noFill/>
          <a:ln/>
        </p:spPr>
        <p:txBody>
          <a:bodyPr wrap="square" lIns="0" tIns="0" rIns="0" bIns="0" rtlCol="0" anchor="ctr"/>
          <a:lstStyle/>
          <a:p>
            <a:pPr marL="0" indent="0">
              <a:buNone/>
            </a:pPr>
            <a:r>
              <a:rPr lang="en-US" sz="1000" dirty="0">
                <a:solidFill>
                  <a:schemeClr val="bg2"/>
                </a:solidFill>
              </a:rPr>
              <a:t>Shared Memory Based Data Exchange System  |  OS Hackathon  |  Team 17</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Tag"/>
          <p:cNvSpPr txBox="1"/>
          <p:nvPr/>
        </p:nvSpPr>
        <p:spPr>
          <a:xfrm>
            <a:off x="548640" y="640080"/>
            <a:ext cx="3657600" cy="320040"/>
          </a:xfrm>
          <a:prstGeom prst="rect">
            <a:avLst/>
          </a:prstGeom>
          <a:noFill/>
          <a:ln/>
        </p:spPr>
        <p:txBody>
          <a:bodyPr wrap="square" lIns="0" tIns="0" rIns="0" bIns="0" rtlCol="0" anchor="ctr"/>
          <a:lstStyle/>
          <a:p>
            <a:pPr marL="0" indent="0">
              <a:buNone/>
            </a:pPr>
            <a:r>
              <a:rPr lang="en-US" sz="1400" b="1" kern="0" spc="400" dirty="0">
                <a:solidFill>
                  <a:schemeClr val="accent6"/>
                </a:solidFill>
              </a:rPr>
              <a:t>OS HACKATHON</a:t>
            </a:r>
            <a:endParaRPr lang="en-US" sz="1400" dirty="0"/>
          </a:p>
        </p:txBody>
      </p:sp>
      <p:sp>
        <p:nvSpPr>
          <p:cNvPr id="3" name="Text 1"/>
          <p:cNvSpPr>
            <a:spLocks noGrp="1"/>
          </p:cNvSpPr>
          <p:nvPr>
            <p:ph type="title" idx="101" hasCustomPrompt="1"/>
          </p:nvPr>
        </p:nvSpPr>
        <p:spPr>
          <a:xfrm>
            <a:off x="548640" y="1143000"/>
            <a:ext cx="5212080" cy="1463040"/>
          </a:xfrm>
          <a:prstGeom prst="rect">
            <a:avLst/>
          </a:prstGeom>
          <a:noFill/>
          <a:ln/>
        </p:spPr>
        <p:txBody>
          <a:bodyPr wrap="square" lIns="0" tIns="0" rIns="0" bIns="0" rtlCol="0" anchor="t"/>
          <a:lstStyle/>
          <a:p>
            <a:pPr marL="0" indent="0" algn="l">
              <a:buNone/>
            </a:pPr>
            <a:r>
              <a:rPr lang="en-US" sz="3400" b="1" dirty="0">
                <a:solidFill>
                  <a:schemeClr val="bg1"/>
                </a:solidFill>
              </a:rPr>
              <a:t>Shared Memory Based Data Exchange System</a:t>
            </a:r>
            <a:endParaRPr lang="en-US" sz="3400" dirty="0"/>
          </a:p>
        </p:txBody>
      </p:sp>
      <p:sp>
        <p:nvSpPr>
          <p:cNvPr id="4" name="Text 1"/>
          <p:cNvSpPr>
            <a:spLocks noGrp="1"/>
          </p:cNvSpPr>
          <p:nvPr>
            <p:ph type="body" idx="102" hasCustomPrompt="1"/>
          </p:nvPr>
        </p:nvSpPr>
        <p:spPr>
          <a:xfrm>
            <a:off x="548640" y="2697480"/>
            <a:ext cx="5212080" cy="365760"/>
          </a:xfrm>
          <a:prstGeom prst="rect">
            <a:avLst/>
          </a:prstGeom>
          <a:noFill/>
          <a:ln/>
        </p:spPr>
        <p:txBody>
          <a:bodyPr wrap="square" lIns="0" tIns="0" rIns="0" bIns="0" rtlCol="0" anchor="t"/>
          <a:lstStyle/>
          <a:p>
            <a:pPr marL="0" indent="0" algn="l">
              <a:buNone/>
            </a:pPr>
            <a:r>
              <a:rPr lang="en-US" sz="1800" dirty="0">
                <a:solidFill>
                  <a:schemeClr val="accent6"/>
                </a:solidFill>
              </a:rPr>
              <a:t>Section 9  |  Team 17</a:t>
            </a:r>
            <a:endParaRPr lang="en-US" sz="1800" dirty="0"/>
          </a:p>
        </p:txBody>
      </p:sp>
      <p:sp>
        <p:nvSpPr>
          <p:cNvPr id="5" name="Team Members"/>
          <p:cNvSpPr txBox="1"/>
          <p:nvPr/>
        </p:nvSpPr>
        <p:spPr>
          <a:xfrm>
            <a:off x="548640" y="3383280"/>
            <a:ext cx="5029200" cy="1005840"/>
          </a:xfrm>
          <a:prstGeom prst="rect">
            <a:avLst/>
          </a:prstGeom>
          <a:noFill/>
          <a:ln/>
        </p:spPr>
        <p:txBody>
          <a:bodyPr wrap="square" lIns="0" tIns="0" rIns="0" bIns="0" rtlCol="0" anchor="t"/>
          <a:lstStyle/>
          <a:p>
            <a:pPr marL="0" indent="0">
              <a:spcAft>
                <a:spcPts val="400"/>
              </a:spcAft>
              <a:buNone/>
            </a:pPr>
            <a:r>
              <a:rPr lang="en-US" sz="1500" dirty="0">
                <a:solidFill>
                  <a:schemeClr val="bg2"/>
                </a:solidFill>
              </a:rPr>
              <a:t>Nikhitha  -  2520030033</a:t>
            </a:r>
            <a:endParaRPr lang="en-US" sz="1500" dirty="0"/>
          </a:p>
          <a:p>
            <a:pPr marL="0" indent="0">
              <a:spcAft>
                <a:spcPts val="400"/>
              </a:spcAft>
              <a:buNone/>
            </a:pPr>
            <a:r>
              <a:rPr lang="en-US" sz="1500" dirty="0">
                <a:solidFill>
                  <a:schemeClr val="bg2"/>
                </a:solidFill>
              </a:rPr>
              <a:t>Poojitha  -  2520030110</a:t>
            </a:r>
            <a:endParaRPr lang="en-US" sz="1500" dirty="0"/>
          </a:p>
        </p:txBody>
      </p:sp>
      <p:sp>
        <p:nvSpPr>
          <p:cNvPr id="6" name="Motif 1"/>
          <p:cNvSpPr/>
          <p:nvPr/>
        </p:nvSpPr>
        <p:spPr>
          <a:xfrm>
            <a:off x="6217920" y="822960"/>
            <a:ext cx="2377440" cy="777240"/>
          </a:xfrm>
          <a:prstGeom prst="roundRect">
            <a:avLst>
              <a:gd name="adj" fmla="val 14118"/>
            </a:avLst>
          </a:prstGeom>
          <a:solidFill>
            <a:schemeClr val="accent1"/>
          </a:solidFill>
          <a:ln w="12700">
            <a:solidFill>
              <a:schemeClr val="accent1"/>
            </a:solidFill>
            <a:prstDash val="solid"/>
          </a:ln>
        </p:spPr>
      </p:sp>
      <p:sp>
        <p:nvSpPr>
          <p:cNvPr id="7" name="Motif 2"/>
          <p:cNvSpPr/>
          <p:nvPr/>
        </p:nvSpPr>
        <p:spPr>
          <a:xfrm>
            <a:off x="6217920" y="2194560"/>
            <a:ext cx="2377440" cy="868680"/>
          </a:xfrm>
          <a:prstGeom prst="roundRect">
            <a:avLst>
              <a:gd name="adj" fmla="val 12632"/>
            </a:avLst>
          </a:prstGeom>
          <a:solidFill>
            <a:schemeClr val="accent2"/>
          </a:solidFill>
          <a:ln w="12700">
            <a:solidFill>
              <a:schemeClr val="accent2"/>
            </a:solidFill>
            <a:prstDash val="solid"/>
          </a:ln>
        </p:spPr>
      </p:sp>
      <p:sp>
        <p:nvSpPr>
          <p:cNvPr id="8" name="Motif 3"/>
          <p:cNvSpPr/>
          <p:nvPr/>
        </p:nvSpPr>
        <p:spPr>
          <a:xfrm>
            <a:off x="6217920" y="3657600"/>
            <a:ext cx="2377440" cy="777240"/>
          </a:xfrm>
          <a:prstGeom prst="roundRect">
            <a:avLst>
              <a:gd name="adj" fmla="val 14118"/>
            </a:avLst>
          </a:prstGeom>
          <a:solidFill>
            <a:schemeClr val="accent4"/>
          </a:solidFill>
          <a:ln w="12700">
            <a:solidFill>
              <a:schemeClr val="accent4"/>
            </a:solidFill>
            <a:prstDash val="solid"/>
          </a:ln>
        </p:spPr>
      </p:sp>
      <p:sp>
        <p:nvSpPr>
          <p:cNvPr id="9" name="Motif Label 1"/>
          <p:cNvSpPr txBox="1"/>
          <p:nvPr/>
        </p:nvSpPr>
        <p:spPr>
          <a:xfrm>
            <a:off x="6217920" y="822960"/>
            <a:ext cx="2377440" cy="777240"/>
          </a:xfrm>
          <a:prstGeom prst="rect">
            <a:avLst/>
          </a:prstGeom>
          <a:noFill/>
          <a:ln/>
        </p:spPr>
        <p:txBody>
          <a:bodyPr wrap="square" lIns="0" tIns="0" rIns="0" bIns="0" rtlCol="0" anchor="ctr"/>
          <a:lstStyle/>
          <a:p>
            <a:pPr marL="0" indent="0" algn="ctr">
              <a:buNone/>
            </a:pPr>
            <a:r>
              <a:rPr lang="en-US" sz="1800" b="1" dirty="0">
                <a:solidFill>
                  <a:schemeClr val="bg1"/>
                </a:solidFill>
              </a:rPr>
              <a:t>Process A</a:t>
            </a:r>
            <a:endParaRPr lang="en-US" sz="1800" dirty="0"/>
          </a:p>
        </p:txBody>
      </p:sp>
      <p:sp>
        <p:nvSpPr>
          <p:cNvPr id="10" name="Motif Label 2"/>
          <p:cNvSpPr txBox="1"/>
          <p:nvPr/>
        </p:nvSpPr>
        <p:spPr>
          <a:xfrm>
            <a:off x="6217920" y="2194560"/>
            <a:ext cx="2377440" cy="868680"/>
          </a:xfrm>
          <a:prstGeom prst="rect">
            <a:avLst/>
          </a:prstGeom>
          <a:noFill/>
          <a:ln/>
        </p:spPr>
        <p:txBody>
          <a:bodyPr wrap="square" lIns="0" tIns="0" rIns="0" bIns="0" rtlCol="0" anchor="ctr"/>
          <a:lstStyle/>
          <a:p>
            <a:pPr marL="0" indent="0" algn="ctr">
              <a:buNone/>
            </a:pPr>
            <a:r>
              <a:rPr lang="en-US" sz="1800" b="1" dirty="0">
                <a:solidFill>
                  <a:schemeClr val="tx1"/>
                </a:solidFill>
              </a:rPr>
              <a:t>Shared Memory</a:t>
            </a:r>
            <a:endParaRPr lang="en-US" sz="1800" dirty="0"/>
          </a:p>
        </p:txBody>
      </p:sp>
      <p:sp>
        <p:nvSpPr>
          <p:cNvPr id="11" name="Motif Label 3"/>
          <p:cNvSpPr txBox="1"/>
          <p:nvPr/>
        </p:nvSpPr>
        <p:spPr>
          <a:xfrm>
            <a:off x="6217920" y="3657600"/>
            <a:ext cx="2377440" cy="777240"/>
          </a:xfrm>
          <a:prstGeom prst="rect">
            <a:avLst/>
          </a:prstGeom>
          <a:noFill/>
          <a:ln/>
        </p:spPr>
        <p:txBody>
          <a:bodyPr wrap="square" lIns="0" tIns="0" rIns="0" bIns="0" rtlCol="0" anchor="ctr"/>
          <a:lstStyle/>
          <a:p>
            <a:pPr marL="0" indent="0" algn="ctr">
              <a:buNone/>
            </a:pPr>
            <a:r>
              <a:rPr lang="en-US" sz="1800" b="1" dirty="0">
                <a:solidFill>
                  <a:schemeClr val="bg1"/>
                </a:solidFill>
              </a:rPr>
              <a:t>Process B</a:t>
            </a:r>
            <a:endParaRPr lang="en-US" sz="1800" dirty="0"/>
          </a:p>
        </p:txBody>
      </p:sp>
      <p:sp>
        <p:nvSpPr>
          <p:cNvPr id="12" name="Motif Arrow 1"/>
          <p:cNvSpPr/>
          <p:nvPr/>
        </p:nvSpPr>
        <p:spPr>
          <a:xfrm>
            <a:off x="7406640" y="1673352"/>
            <a:ext cx="0" cy="457200"/>
          </a:xfrm>
          <a:prstGeom prst="line">
            <a:avLst/>
          </a:prstGeom>
          <a:noFill/>
          <a:ln w="28575">
            <a:solidFill>
              <a:schemeClr val="accent6"/>
            </a:solidFill>
            <a:prstDash val="solid"/>
            <a:headEnd type="triangle"/>
            <a:tailEnd type="triangle"/>
          </a:ln>
        </p:spPr>
      </p:sp>
      <p:sp>
        <p:nvSpPr>
          <p:cNvPr id="13" name="Motif Arrow 2"/>
          <p:cNvSpPr/>
          <p:nvPr/>
        </p:nvSpPr>
        <p:spPr>
          <a:xfrm>
            <a:off x="7406640" y="3136392"/>
            <a:ext cx="0" cy="457200"/>
          </a:xfrm>
          <a:prstGeom prst="line">
            <a:avLst/>
          </a:prstGeom>
          <a:noFill/>
          <a:ln w="28575">
            <a:solidFill>
              <a:schemeClr val="accent6"/>
            </a:solidFill>
            <a:prstDash val="solid"/>
            <a:headEnd type="triangle"/>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Problem Statement</a:t>
            </a:r>
            <a:endParaRPr lang="en-US" sz="3000" dirty="0"/>
          </a:p>
        </p:txBody>
      </p:sp>
      <p:sp>
        <p:nvSpPr>
          <p:cNvPr id="3" name="Problem Bullets"/>
          <p:cNvSpPr txBox="1"/>
          <p:nvPr/>
        </p:nvSpPr>
        <p:spPr>
          <a:xfrm>
            <a:off x="457200" y="1280160"/>
            <a:ext cx="4206240" cy="320040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Every process runs in its own private memory space.</a:t>
            </a:r>
            <a:endParaRPr lang="en-US" sz="1700" dirty="0"/>
          </a:p>
          <a:p>
            <a:pPr marL="342900" indent="-342900">
              <a:spcAft>
                <a:spcPts val="1000"/>
              </a:spcAft>
              <a:buSzPct val="100000"/>
              <a:buChar char="•"/>
            </a:pPr>
            <a:r>
              <a:rPr lang="en-US" sz="1700" dirty="0">
                <a:solidFill>
                  <a:schemeClr val="tx1"/>
                </a:solidFill>
              </a:rPr>
              <a:t>Cooperating processes still need to exchange data.</a:t>
            </a:r>
            <a:endParaRPr lang="en-US" sz="1700" dirty="0"/>
          </a:p>
          <a:p>
            <a:pPr marL="342900" indent="-342900">
              <a:spcAft>
                <a:spcPts val="1000"/>
              </a:spcAft>
              <a:buSzPct val="100000"/>
              <a:buChar char="•"/>
            </a:pPr>
            <a:r>
              <a:rPr lang="en-US" sz="1700" dirty="0">
                <a:solidFill>
                  <a:schemeClr val="tx1"/>
                </a:solidFill>
              </a:rPr>
              <a:t>Unsynchronised access can mix up or corrupt data (a race condition).</a:t>
            </a:r>
            <a:endParaRPr lang="en-US" sz="1700" dirty="0"/>
          </a:p>
          <a:p>
            <a:pPr marL="342900" indent="-342900">
              <a:spcAft>
                <a:spcPts val="1000"/>
              </a:spcAft>
              <a:buSzPct val="100000"/>
              <a:buChar char="•"/>
            </a:pPr>
            <a:r>
              <a:rPr lang="en-US" sz="1700" dirty="0">
                <a:solidFill>
                  <a:schemeClr val="tx1"/>
                </a:solidFill>
              </a:rPr>
              <a:t>We need a way to share data that is also safe.</a:t>
            </a:r>
            <a:endParaRPr lang="en-US" sz="1700" dirty="0"/>
          </a:p>
        </p:txBody>
      </p:sp>
      <p:sp>
        <p:nvSpPr>
          <p:cNvPr id="4" name="Problem Visual Card"/>
          <p:cNvSpPr/>
          <p:nvPr/>
        </p:nvSpPr>
        <p:spPr>
          <a:xfrm>
            <a:off x="5029200" y="1234440"/>
            <a:ext cx="3657600" cy="3383280"/>
          </a:xfrm>
          <a:prstGeom prst="roundRect">
            <a:avLst>
              <a:gd name="adj" fmla="val 2703"/>
            </a:avLst>
          </a:prstGeom>
          <a:solidFill>
            <a:schemeClr val="bg2"/>
          </a:solidFill>
          <a:ln w="12700">
            <a:solidFill>
              <a:schemeClr val="bg2"/>
            </a:solidFill>
            <a:prstDash val="solid"/>
          </a:ln>
        </p:spPr>
      </p:sp>
      <p:sp>
        <p:nvSpPr>
          <p:cNvPr id="5" name="Visual Caption"/>
          <p:cNvSpPr txBox="1"/>
          <p:nvPr/>
        </p:nvSpPr>
        <p:spPr>
          <a:xfrm>
            <a:off x="5212080" y="1371600"/>
            <a:ext cx="3291840" cy="320040"/>
          </a:xfrm>
          <a:prstGeom prst="rect">
            <a:avLst/>
          </a:prstGeom>
          <a:noFill/>
          <a:ln/>
        </p:spPr>
        <p:txBody>
          <a:bodyPr wrap="square" lIns="0" tIns="0" rIns="0" bIns="0" rtlCol="0" anchor="ctr"/>
          <a:lstStyle/>
          <a:p>
            <a:pPr marL="0" indent="0" algn="ctr">
              <a:buNone/>
            </a:pPr>
            <a:r>
              <a:rPr lang="en-US" sz="1300" b="1" dirty="0">
                <a:solidFill>
                  <a:schemeClr val="accent5"/>
                </a:solidFill>
              </a:rPr>
              <a:t>Each process has its own memory</a:t>
            </a:r>
            <a:endParaRPr lang="en-US" sz="1300" dirty="0"/>
          </a:p>
        </p:txBody>
      </p:sp>
      <p:sp>
        <p:nvSpPr>
          <p:cNvPr id="6" name="Process Box 1"/>
          <p:cNvSpPr/>
          <p:nvPr/>
        </p:nvSpPr>
        <p:spPr>
          <a:xfrm>
            <a:off x="5212080" y="1828800"/>
            <a:ext cx="1325880" cy="914400"/>
          </a:xfrm>
          <a:prstGeom prst="roundRect">
            <a:avLst>
              <a:gd name="adj" fmla="val 10000"/>
            </a:avLst>
          </a:prstGeom>
          <a:solidFill>
            <a:schemeClr val="accent4"/>
          </a:solidFill>
          <a:ln w="12700">
            <a:solidFill>
              <a:schemeClr val="accent4"/>
            </a:solidFill>
            <a:prstDash val="solid"/>
          </a:ln>
        </p:spPr>
      </p:sp>
      <p:sp>
        <p:nvSpPr>
          <p:cNvPr id="7" name="Process Label 1"/>
          <p:cNvSpPr txBox="1"/>
          <p:nvPr/>
        </p:nvSpPr>
        <p:spPr>
          <a:xfrm>
            <a:off x="5212080" y="1828800"/>
            <a:ext cx="1325880" cy="914400"/>
          </a:xfrm>
          <a:prstGeom prst="rect">
            <a:avLst/>
          </a:prstGeom>
          <a:noFill/>
          <a:ln/>
        </p:spPr>
        <p:txBody>
          <a:bodyPr wrap="square" lIns="0" tIns="0" rIns="0" bIns="0" rtlCol="0" anchor="ctr"/>
          <a:lstStyle/>
          <a:p>
            <a:pPr marL="0" indent="0" algn="ctr">
              <a:buNone/>
            </a:pPr>
            <a:r>
              <a:rPr lang="en-US" sz="1500" b="1" dirty="0">
                <a:solidFill>
                  <a:schemeClr val="bg1"/>
                </a:solidFill>
              </a:rPr>
              <a:t>Process A</a:t>
            </a:r>
            <a:endParaRPr lang="en-US" sz="1500" dirty="0"/>
          </a:p>
        </p:txBody>
      </p:sp>
      <p:sp>
        <p:nvSpPr>
          <p:cNvPr id="8" name="Process Box 2"/>
          <p:cNvSpPr/>
          <p:nvPr/>
        </p:nvSpPr>
        <p:spPr>
          <a:xfrm>
            <a:off x="7178040" y="1828800"/>
            <a:ext cx="1325880" cy="914400"/>
          </a:xfrm>
          <a:prstGeom prst="roundRect">
            <a:avLst>
              <a:gd name="adj" fmla="val 10000"/>
            </a:avLst>
          </a:prstGeom>
          <a:solidFill>
            <a:schemeClr val="accent4"/>
          </a:solidFill>
          <a:ln w="12700">
            <a:solidFill>
              <a:schemeClr val="accent4"/>
            </a:solidFill>
            <a:prstDash val="solid"/>
          </a:ln>
        </p:spPr>
      </p:sp>
      <p:sp>
        <p:nvSpPr>
          <p:cNvPr id="9" name="Process Label 2"/>
          <p:cNvSpPr txBox="1"/>
          <p:nvPr/>
        </p:nvSpPr>
        <p:spPr>
          <a:xfrm>
            <a:off x="7178040" y="1828800"/>
            <a:ext cx="1325880" cy="914400"/>
          </a:xfrm>
          <a:prstGeom prst="rect">
            <a:avLst/>
          </a:prstGeom>
          <a:noFill/>
          <a:ln/>
        </p:spPr>
        <p:txBody>
          <a:bodyPr wrap="square" lIns="0" tIns="0" rIns="0" bIns="0" rtlCol="0" anchor="ctr"/>
          <a:lstStyle/>
          <a:p>
            <a:pPr marL="0" indent="0" algn="ctr">
              <a:buNone/>
            </a:pPr>
            <a:r>
              <a:rPr lang="en-US" sz="1500" b="1" dirty="0">
                <a:solidFill>
                  <a:schemeClr val="bg1"/>
                </a:solidFill>
              </a:rPr>
              <a:t>Process B</a:t>
            </a:r>
            <a:endParaRPr lang="en-US" sz="1500" dirty="0"/>
          </a:p>
        </p:txBody>
      </p:sp>
      <p:sp>
        <p:nvSpPr>
          <p:cNvPr id="10" name="Question Mark Circle"/>
          <p:cNvSpPr/>
          <p:nvPr/>
        </p:nvSpPr>
        <p:spPr>
          <a:xfrm>
            <a:off x="6675120" y="2057400"/>
            <a:ext cx="457200" cy="457200"/>
          </a:xfrm>
          <a:prstGeom prst="ellipse">
            <a:avLst/>
          </a:prstGeom>
          <a:solidFill>
            <a:schemeClr val="accent2"/>
          </a:solidFill>
          <a:ln w="12700">
            <a:solidFill>
              <a:schemeClr val="accent2"/>
            </a:solidFill>
            <a:prstDash val="solid"/>
          </a:ln>
        </p:spPr>
      </p:sp>
      <p:sp>
        <p:nvSpPr>
          <p:cNvPr id="11" name="Question Mark"/>
          <p:cNvSpPr txBox="1"/>
          <p:nvPr/>
        </p:nvSpPr>
        <p:spPr>
          <a:xfrm>
            <a:off x="6675120" y="2057400"/>
            <a:ext cx="457200" cy="457200"/>
          </a:xfrm>
          <a:prstGeom prst="rect">
            <a:avLst/>
          </a:prstGeom>
          <a:noFill/>
          <a:ln/>
        </p:spPr>
        <p:txBody>
          <a:bodyPr wrap="square" lIns="0" tIns="0" rIns="0" bIns="0" rtlCol="0" anchor="ctr"/>
          <a:lstStyle/>
          <a:p>
            <a:pPr marL="0" indent="0" algn="ctr">
              <a:buNone/>
            </a:pPr>
            <a:r>
              <a:rPr lang="en-US" sz="2000" b="1" dirty="0">
                <a:solidFill>
                  <a:schemeClr val="tx1"/>
                </a:solidFill>
              </a:rPr>
              <a:t>?</a:t>
            </a:r>
            <a:endParaRPr lang="en-US" sz="2000" dirty="0"/>
          </a:p>
        </p:txBody>
      </p:sp>
      <p:sp>
        <p:nvSpPr>
          <p:cNvPr id="12" name="Warning Card"/>
          <p:cNvSpPr/>
          <p:nvPr/>
        </p:nvSpPr>
        <p:spPr>
          <a:xfrm>
            <a:off x="5212080" y="3063240"/>
            <a:ext cx="3291840" cy="1325880"/>
          </a:xfrm>
          <a:prstGeom prst="roundRect">
            <a:avLst>
              <a:gd name="adj" fmla="val 6897"/>
            </a:avLst>
          </a:prstGeom>
          <a:solidFill>
            <a:schemeClr val="bg1"/>
          </a:solidFill>
          <a:ln w="12700">
            <a:solidFill>
              <a:schemeClr val="accent5"/>
            </a:solidFill>
            <a:prstDash val="solid"/>
          </a:ln>
          <a:effectLst>
            <a:outerShdw blurRad="76200" dist="25400" dir="5400000" algn="bl" rotWithShape="0">
              <a:srgbClr val="000000">
                <a:alpha val="12000"/>
              </a:srgbClr>
            </a:outerShdw>
          </a:effectLst>
        </p:spPr>
      </p:sp>
      <p:sp>
        <p:nvSpPr>
          <p:cNvPr id="13" name="Warning Text"/>
          <p:cNvSpPr txBox="1"/>
          <p:nvPr/>
        </p:nvSpPr>
        <p:spPr>
          <a:xfrm>
            <a:off x="5349240" y="3108960"/>
            <a:ext cx="3017520" cy="1234440"/>
          </a:xfrm>
          <a:prstGeom prst="rect">
            <a:avLst/>
          </a:prstGeom>
          <a:noFill/>
          <a:ln/>
        </p:spPr>
        <p:txBody>
          <a:bodyPr wrap="square" lIns="0" tIns="0" rIns="0" bIns="0" rtlCol="0" anchor="ctr"/>
          <a:lstStyle/>
          <a:p>
            <a:pPr marL="0" indent="0">
              <a:spcAft>
                <a:spcPts val="400"/>
              </a:spcAft>
              <a:buNone/>
            </a:pPr>
            <a:r>
              <a:rPr lang="en-US" sz="1400" b="1" dirty="0">
                <a:solidFill>
                  <a:schemeClr val="tx1"/>
                </a:solidFill>
              </a:rPr>
              <a:t>Without coordination</a:t>
            </a:r>
            <a:endParaRPr lang="en-US" sz="1400" dirty="0"/>
          </a:p>
          <a:p>
            <a:pPr marL="0" indent="0">
              <a:spcAft>
                <a:spcPts val="400"/>
              </a:spcAft>
              <a:buNone/>
            </a:pPr>
            <a:r>
              <a:rPr lang="en-US" sz="1400" dirty="0">
                <a:solidFill>
                  <a:schemeClr val="tx1"/>
                </a:solidFill>
              </a:rPr>
              <a:t>Two processes may use the same data at the same time, giving wrong results.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Project Objectives and Concept</a:t>
            </a:r>
            <a:endParaRPr lang="en-US" sz="3000" dirty="0"/>
          </a:p>
        </p:txBody>
      </p:sp>
      <p:sp>
        <p:nvSpPr>
          <p:cNvPr id="3" name="Objectives Card"/>
          <p:cNvSpPr/>
          <p:nvPr/>
        </p:nvSpPr>
        <p:spPr>
          <a:xfrm>
            <a:off x="457200" y="1234440"/>
            <a:ext cx="3749040" cy="3383280"/>
          </a:xfrm>
          <a:prstGeom prst="roundRect">
            <a:avLst>
              <a:gd name="adj" fmla="val 2703"/>
            </a:avLst>
          </a:prstGeom>
          <a:solidFill>
            <a:schemeClr val="bg2"/>
          </a:solidFill>
          <a:ln w="12700">
            <a:solidFill>
              <a:schemeClr val="bg2"/>
            </a:solidFill>
            <a:prstDash val="solid"/>
          </a:ln>
        </p:spPr>
      </p:sp>
      <p:sp>
        <p:nvSpPr>
          <p:cNvPr id="4" name="Objectives Heading"/>
          <p:cNvSpPr txBox="1"/>
          <p:nvPr/>
        </p:nvSpPr>
        <p:spPr>
          <a:xfrm>
            <a:off x="685800" y="1371600"/>
            <a:ext cx="3291840" cy="411480"/>
          </a:xfrm>
          <a:prstGeom prst="rect">
            <a:avLst/>
          </a:prstGeom>
          <a:noFill/>
          <a:ln/>
        </p:spPr>
        <p:txBody>
          <a:bodyPr wrap="square" lIns="0" tIns="0" rIns="0" bIns="0" rtlCol="0" anchor="ctr"/>
          <a:lstStyle/>
          <a:p>
            <a:pPr marL="0" indent="0">
              <a:buNone/>
            </a:pPr>
            <a:r>
              <a:rPr lang="en-US" sz="2000" b="1" dirty="0">
                <a:solidFill>
                  <a:schemeClr val="accent1"/>
                </a:solidFill>
              </a:rPr>
              <a:t>Objectives</a:t>
            </a:r>
            <a:endParaRPr lang="en-US" sz="2000" dirty="0"/>
          </a:p>
        </p:txBody>
      </p:sp>
      <p:sp>
        <p:nvSpPr>
          <p:cNvPr id="5" name="Objectives Bullets"/>
          <p:cNvSpPr txBox="1"/>
          <p:nvPr/>
        </p:nvSpPr>
        <p:spPr>
          <a:xfrm>
            <a:off x="685800" y="1920240"/>
            <a:ext cx="3291840" cy="25603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Let processes exchange data through shared memory.</a:t>
            </a:r>
            <a:endParaRPr lang="en-US" sz="1600" dirty="0"/>
          </a:p>
          <a:p>
            <a:pPr marL="342900" indent="-342900">
              <a:spcAft>
                <a:spcPts val="1000"/>
              </a:spcAft>
              <a:buSzPct val="100000"/>
              <a:buChar char="•"/>
            </a:pPr>
            <a:r>
              <a:rPr lang="en-US" sz="1600" dirty="0">
                <a:solidFill>
                  <a:schemeClr val="tx1"/>
                </a:solidFill>
              </a:rPr>
              <a:t>Keep the data consistent using a semaphore.</a:t>
            </a:r>
            <a:endParaRPr lang="en-US" sz="1600" dirty="0"/>
          </a:p>
          <a:p>
            <a:pPr marL="342900" indent="-342900">
              <a:spcAft>
                <a:spcPts val="1000"/>
              </a:spcAft>
              <a:buSzPct val="100000"/>
              <a:buChar char="•"/>
            </a:pPr>
            <a:r>
              <a:rPr lang="en-US" sz="1600" dirty="0">
                <a:solidFill>
                  <a:schemeClr val="tx1"/>
                </a:solidFill>
              </a:rPr>
              <a:t>Show it working in a simple web-based demo.</a:t>
            </a:r>
            <a:endParaRPr lang="en-US" sz="1600" dirty="0"/>
          </a:p>
        </p:txBody>
      </p:sp>
      <p:sp>
        <p:nvSpPr>
          <p:cNvPr id="6" name="Concept Card 1"/>
          <p:cNvSpPr/>
          <p:nvPr/>
        </p:nvSpPr>
        <p:spPr>
          <a:xfrm>
            <a:off x="4480560" y="1234440"/>
            <a:ext cx="4206240" cy="1600200"/>
          </a:xfrm>
          <a:prstGeom prst="roundRect">
            <a:avLst>
              <a:gd name="adj" fmla="val 5714"/>
            </a:avLst>
          </a:prstGeom>
          <a:solidFill>
            <a:schemeClr val="bg1"/>
          </a:solidFill>
          <a:ln w="12700">
            <a:solidFill>
              <a:schemeClr val="bg2"/>
            </a:solidFill>
            <a:prstDash val="solid"/>
          </a:ln>
          <a:effectLst>
            <a:outerShdw blurRad="76200" dist="25400" dir="5400000" algn="bl" rotWithShape="0">
              <a:srgbClr val="000000">
                <a:alpha val="12000"/>
              </a:srgbClr>
            </a:outerShdw>
          </a:effectLst>
        </p:spPr>
      </p:sp>
      <p:sp>
        <p:nvSpPr>
          <p:cNvPr id="7" name="Concept Icon Circle 1"/>
          <p:cNvSpPr/>
          <p:nvPr/>
        </p:nvSpPr>
        <p:spPr>
          <a:xfrm>
            <a:off x="4709160" y="1463040"/>
            <a:ext cx="594360" cy="594360"/>
          </a:xfrm>
          <a:prstGeom prst="ellipse">
            <a:avLst/>
          </a:prstGeom>
          <a:solidFill>
            <a:schemeClr val="accent1"/>
          </a:solidFill>
          <a:ln w="12700">
            <a:solidFill>
              <a:schemeClr val="accent1"/>
            </a:solidFill>
            <a:prstDash val="solid"/>
          </a:ln>
        </p:spPr>
      </p:sp>
      <p:pic>
        <p:nvPicPr>
          <p:cNvPr id="8" name="Concept Icon 1" descr="Shared Memory icon"/>
          <p:cNvPicPr>
            <a:picLocks noChangeAspect="1"/>
          </p:cNvPicPr>
          <p:nvPr/>
        </p:nvPicPr>
        <p:blipFill>
          <a:blip r:embed="rId3"/>
          <a:stretch>
            <a:fillRect/>
          </a:stretch>
        </p:blipFill>
        <p:spPr>
          <a:xfrm>
            <a:off x="4846320" y="1600200"/>
            <a:ext cx="320040" cy="320040"/>
          </a:xfrm>
          <a:prstGeom prst="rect">
            <a:avLst/>
          </a:prstGeom>
        </p:spPr>
      </p:pic>
      <p:sp>
        <p:nvSpPr>
          <p:cNvPr id="9" name="Concept Text 1"/>
          <p:cNvSpPr txBox="1"/>
          <p:nvPr/>
        </p:nvSpPr>
        <p:spPr>
          <a:xfrm>
            <a:off x="5486400" y="1371600"/>
            <a:ext cx="3063240" cy="132588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Shared Memory</a:t>
            </a:r>
            <a:endParaRPr lang="en-US" sz="1800" dirty="0"/>
          </a:p>
          <a:p>
            <a:pPr marL="0" indent="0">
              <a:spcAft>
                <a:spcPts val="400"/>
              </a:spcAft>
              <a:buNone/>
            </a:pPr>
            <a:r>
              <a:rPr lang="en-US" sz="1400" dirty="0">
                <a:solidFill>
                  <a:schemeClr val="tx1"/>
                </a:solidFill>
              </a:rPr>
              <a:t>A memory region that more than one process can read and write, like a shared whiteboard.</a:t>
            </a:r>
            <a:endParaRPr lang="en-US" sz="1800" dirty="0"/>
          </a:p>
        </p:txBody>
      </p:sp>
      <p:sp>
        <p:nvSpPr>
          <p:cNvPr id="10" name="Concept Card 2"/>
          <p:cNvSpPr/>
          <p:nvPr/>
        </p:nvSpPr>
        <p:spPr>
          <a:xfrm>
            <a:off x="4480560" y="3017520"/>
            <a:ext cx="4206240" cy="1600200"/>
          </a:xfrm>
          <a:prstGeom prst="roundRect">
            <a:avLst>
              <a:gd name="adj" fmla="val 5714"/>
            </a:avLst>
          </a:prstGeom>
          <a:solidFill>
            <a:schemeClr val="bg1"/>
          </a:solidFill>
          <a:ln w="12700">
            <a:solidFill>
              <a:schemeClr val="bg2"/>
            </a:solidFill>
            <a:prstDash val="solid"/>
          </a:ln>
          <a:effectLst>
            <a:outerShdw blurRad="76200" dist="25400" dir="5400000" algn="bl" rotWithShape="0">
              <a:srgbClr val="000000">
                <a:alpha val="12000"/>
              </a:srgbClr>
            </a:outerShdw>
          </a:effectLst>
        </p:spPr>
      </p:sp>
      <p:sp>
        <p:nvSpPr>
          <p:cNvPr id="11" name="Concept Icon Circle 2"/>
          <p:cNvSpPr/>
          <p:nvPr/>
        </p:nvSpPr>
        <p:spPr>
          <a:xfrm>
            <a:off x="4709160" y="3246120"/>
            <a:ext cx="594360" cy="594360"/>
          </a:xfrm>
          <a:prstGeom prst="ellipse">
            <a:avLst/>
          </a:prstGeom>
          <a:solidFill>
            <a:schemeClr val="accent4"/>
          </a:solidFill>
          <a:ln w="12700">
            <a:solidFill>
              <a:schemeClr val="accent4"/>
            </a:solidFill>
            <a:prstDash val="solid"/>
          </a:ln>
        </p:spPr>
      </p:sp>
      <p:pic>
        <p:nvPicPr>
          <p:cNvPr id="12" name="Concept Icon 2" descr="Data Consistency icon"/>
          <p:cNvPicPr>
            <a:picLocks noChangeAspect="1"/>
          </p:cNvPicPr>
          <p:nvPr/>
        </p:nvPicPr>
        <p:blipFill>
          <a:blip r:embed="rId4"/>
          <a:stretch>
            <a:fillRect/>
          </a:stretch>
        </p:blipFill>
        <p:spPr>
          <a:xfrm>
            <a:off x="4846320" y="3383280"/>
            <a:ext cx="320040" cy="320040"/>
          </a:xfrm>
          <a:prstGeom prst="rect">
            <a:avLst/>
          </a:prstGeom>
        </p:spPr>
      </p:pic>
      <p:sp>
        <p:nvSpPr>
          <p:cNvPr id="13" name="Concept Text 2"/>
          <p:cNvSpPr txBox="1"/>
          <p:nvPr/>
        </p:nvSpPr>
        <p:spPr>
          <a:xfrm>
            <a:off x="5486400" y="3154680"/>
            <a:ext cx="3063240" cy="1325880"/>
          </a:xfrm>
          <a:prstGeom prst="rect">
            <a:avLst/>
          </a:prstGeom>
          <a:noFill/>
          <a:ln/>
        </p:spPr>
        <p:txBody>
          <a:bodyPr wrap="square" lIns="0" tIns="0" rIns="0" bIns="0" rtlCol="0" anchor="ctr"/>
          <a:lstStyle/>
          <a:p>
            <a:pPr marL="0" indent="0">
              <a:spcAft>
                <a:spcPts val="400"/>
              </a:spcAft>
              <a:buNone/>
            </a:pPr>
            <a:r>
              <a:rPr lang="en-US" sz="1800" b="1" dirty="0">
                <a:solidFill>
                  <a:schemeClr val="tx1"/>
                </a:solidFill>
              </a:rPr>
              <a:t>Data Consistency</a:t>
            </a:r>
            <a:endParaRPr lang="en-US" sz="1800" dirty="0"/>
          </a:p>
          <a:p>
            <a:pPr marL="0" indent="0">
              <a:spcAft>
                <a:spcPts val="400"/>
              </a:spcAft>
              <a:buNone/>
            </a:pPr>
            <a:r>
              <a:rPr lang="en-US" sz="1400" dirty="0">
                <a:solidFill>
                  <a:schemeClr val="tx1"/>
                </a:solidFill>
              </a:rPr>
              <a:t>Processes take turns, so a reader never sees half-written data, like passing one marker around.</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System Architecture</a:t>
            </a:r>
            <a:endParaRPr lang="en-US" sz="3000" dirty="0"/>
          </a:p>
        </p:txBody>
      </p:sp>
      <p:sp>
        <p:nvSpPr>
          <p:cNvPr id="3" name="Frontend Box"/>
          <p:cNvSpPr/>
          <p:nvPr/>
        </p:nvSpPr>
        <p:spPr>
          <a:xfrm>
            <a:off x="457200" y="1188720"/>
            <a:ext cx="2286000" cy="822960"/>
          </a:xfrm>
          <a:prstGeom prst="roundRect">
            <a:avLst>
              <a:gd name="adj" fmla="val 11111"/>
            </a:avLst>
          </a:prstGeom>
          <a:solidFill>
            <a:schemeClr val="accent3"/>
          </a:solidFill>
          <a:ln w="12700">
            <a:solidFill>
              <a:schemeClr val="accent3"/>
            </a:solidFill>
            <a:prstDash val="solid"/>
          </a:ln>
        </p:spPr>
      </p:sp>
      <p:sp>
        <p:nvSpPr>
          <p:cNvPr id="4" name="Frontend Label"/>
          <p:cNvSpPr txBox="1"/>
          <p:nvPr/>
        </p:nvSpPr>
        <p:spPr>
          <a:xfrm>
            <a:off x="457200" y="1188720"/>
            <a:ext cx="2286000" cy="822960"/>
          </a:xfrm>
          <a:prstGeom prst="rect">
            <a:avLst/>
          </a:prstGeom>
          <a:noFill/>
          <a:ln/>
        </p:spPr>
        <p:txBody>
          <a:bodyPr wrap="square" lIns="635" tIns="635" rIns="635" bIns="635" rtlCol="0" anchor="ctr"/>
          <a:lstStyle/>
          <a:p>
            <a:pPr marL="0" indent="0" algn="ctr">
              <a:buNone/>
            </a:pPr>
            <a:r>
              <a:rPr lang="en-US" sz="1500" b="1" dirty="0">
                <a:solidFill>
                  <a:schemeClr val="bg1"/>
                </a:solidFill>
              </a:rPr>
              <a:t>React + Vite</a:t>
            </a:r>
            <a:endParaRPr lang="en-US" sz="1500" dirty="0"/>
          </a:p>
          <a:p>
            <a:pPr marL="0" indent="0" algn="ctr">
              <a:buNone/>
            </a:pPr>
            <a:r>
              <a:rPr lang="en-US" sz="1200" dirty="0">
                <a:solidFill>
                  <a:schemeClr val="bg1"/>
                </a:solidFill>
              </a:rPr>
              <a:t>Frontend (Run button)</a:t>
            </a:r>
            <a:endParaRPr lang="en-US" sz="1500" dirty="0"/>
          </a:p>
        </p:txBody>
      </p:sp>
      <p:sp>
        <p:nvSpPr>
          <p:cNvPr id="5" name="Backend Box"/>
          <p:cNvSpPr/>
          <p:nvPr/>
        </p:nvSpPr>
        <p:spPr>
          <a:xfrm>
            <a:off x="3657600" y="1188720"/>
            <a:ext cx="2286000" cy="822960"/>
          </a:xfrm>
          <a:prstGeom prst="roundRect">
            <a:avLst>
              <a:gd name="adj" fmla="val 11111"/>
            </a:avLst>
          </a:prstGeom>
          <a:solidFill>
            <a:schemeClr val="accent4"/>
          </a:solidFill>
          <a:ln w="12700">
            <a:solidFill>
              <a:schemeClr val="accent4"/>
            </a:solidFill>
            <a:prstDash val="solid"/>
          </a:ln>
        </p:spPr>
      </p:sp>
      <p:sp>
        <p:nvSpPr>
          <p:cNvPr id="6" name="Backend Label"/>
          <p:cNvSpPr txBox="1"/>
          <p:nvPr/>
        </p:nvSpPr>
        <p:spPr>
          <a:xfrm>
            <a:off x="3657600" y="1188720"/>
            <a:ext cx="2286000" cy="822960"/>
          </a:xfrm>
          <a:prstGeom prst="rect">
            <a:avLst/>
          </a:prstGeom>
          <a:noFill/>
          <a:ln/>
        </p:spPr>
        <p:txBody>
          <a:bodyPr wrap="square" lIns="635" tIns="635" rIns="635" bIns="635" rtlCol="0" anchor="ctr"/>
          <a:lstStyle/>
          <a:p>
            <a:pPr marL="0" indent="0" algn="ctr">
              <a:buNone/>
            </a:pPr>
            <a:r>
              <a:rPr lang="en-US" sz="1500" b="1" dirty="0">
                <a:solidFill>
                  <a:schemeClr val="bg1"/>
                </a:solidFill>
              </a:rPr>
              <a:t>Express.js</a:t>
            </a:r>
            <a:endParaRPr lang="en-US" sz="1500" dirty="0"/>
          </a:p>
          <a:p>
            <a:pPr marL="0" indent="0" algn="ctr">
              <a:buNone/>
            </a:pPr>
            <a:r>
              <a:rPr lang="en-US" sz="1200" dirty="0">
                <a:solidFill>
                  <a:schemeClr val="bg1"/>
                </a:solidFill>
              </a:rPr>
              <a:t>Backend</a:t>
            </a:r>
            <a:endParaRPr lang="en-US" sz="1500" dirty="0"/>
          </a:p>
        </p:txBody>
      </p:sp>
      <p:sp>
        <p:nvSpPr>
          <p:cNvPr id="7" name="Arrow"/>
          <p:cNvSpPr/>
          <p:nvPr/>
        </p:nvSpPr>
        <p:spPr>
          <a:xfrm>
            <a:off x="2743200" y="1600200"/>
            <a:ext cx="914400" cy="0"/>
          </a:xfrm>
          <a:prstGeom prst="line">
            <a:avLst/>
          </a:prstGeom>
          <a:noFill/>
          <a:ln w="28575">
            <a:solidFill>
              <a:schemeClr val="tx2"/>
            </a:solidFill>
            <a:prstDash val="solid"/>
            <a:tailEnd type="triangle"/>
          </a:ln>
        </p:spPr>
      </p:sp>
      <p:sp>
        <p:nvSpPr>
          <p:cNvPr id="8" name="Request Label"/>
          <p:cNvSpPr txBox="1"/>
          <p:nvPr/>
        </p:nvSpPr>
        <p:spPr>
          <a:xfrm>
            <a:off x="2743200" y="1280160"/>
            <a:ext cx="914400" cy="274320"/>
          </a:xfrm>
          <a:prstGeom prst="rect">
            <a:avLst/>
          </a:prstGeom>
          <a:noFill/>
          <a:ln/>
        </p:spPr>
        <p:txBody>
          <a:bodyPr wrap="square" lIns="0" tIns="0" rIns="0" bIns="0" rtlCol="0" anchor="ctr"/>
          <a:lstStyle/>
          <a:p>
            <a:pPr marL="0" indent="0" algn="ctr">
              <a:buNone/>
            </a:pPr>
            <a:r>
              <a:rPr lang="en-US" sz="1100" dirty="0">
                <a:solidFill>
                  <a:schemeClr val="accent5"/>
                </a:solidFill>
              </a:rPr>
              <a:t>request</a:t>
            </a:r>
            <a:endParaRPr lang="en-US" sz="1100" dirty="0"/>
          </a:p>
        </p:txBody>
      </p:sp>
      <p:sp>
        <p:nvSpPr>
          <p:cNvPr id="9" name="Output Note Box"/>
          <p:cNvSpPr/>
          <p:nvPr/>
        </p:nvSpPr>
        <p:spPr>
          <a:xfrm>
            <a:off x="6309360" y="1188720"/>
            <a:ext cx="2377440" cy="822960"/>
          </a:xfrm>
          <a:prstGeom prst="roundRect">
            <a:avLst>
              <a:gd name="adj" fmla="val 11111"/>
            </a:avLst>
          </a:prstGeom>
          <a:solidFill>
            <a:schemeClr val="bg2"/>
          </a:solidFill>
          <a:ln w="12700">
            <a:solidFill>
              <a:schemeClr val="bg2"/>
            </a:solidFill>
            <a:prstDash val="solid"/>
          </a:ln>
        </p:spPr>
      </p:sp>
      <p:sp>
        <p:nvSpPr>
          <p:cNvPr id="10" name="Output Note"/>
          <p:cNvSpPr txBox="1"/>
          <p:nvPr/>
        </p:nvSpPr>
        <p:spPr>
          <a:xfrm>
            <a:off x="6309360" y="1188720"/>
            <a:ext cx="2377440" cy="822960"/>
          </a:xfrm>
          <a:prstGeom prst="rect">
            <a:avLst/>
          </a:prstGeom>
          <a:noFill/>
          <a:ln/>
        </p:spPr>
        <p:txBody>
          <a:bodyPr wrap="square" lIns="1016" tIns="1016" rIns="1016" bIns="1016" rtlCol="0" anchor="ctr"/>
          <a:lstStyle/>
          <a:p>
            <a:pPr marL="0" indent="0" algn="ctr">
              <a:buNone/>
            </a:pPr>
            <a:r>
              <a:rPr lang="en-US" sz="1300" dirty="0">
                <a:solidFill>
                  <a:schemeClr val="tx1"/>
                </a:solidFill>
              </a:rPr>
              <a:t>Output is shown back on the webpage</a:t>
            </a:r>
            <a:endParaRPr lang="en-US" sz="1300" dirty="0"/>
          </a:p>
        </p:txBody>
      </p:sp>
      <p:sp>
        <p:nvSpPr>
          <p:cNvPr id="11" name="Arrow"/>
          <p:cNvSpPr/>
          <p:nvPr/>
        </p:nvSpPr>
        <p:spPr>
          <a:xfrm>
            <a:off x="5943600" y="1600200"/>
            <a:ext cx="365760" cy="0"/>
          </a:xfrm>
          <a:prstGeom prst="line">
            <a:avLst/>
          </a:prstGeom>
          <a:noFill/>
          <a:ln w="28575">
            <a:solidFill>
              <a:schemeClr val="tx2"/>
            </a:solidFill>
            <a:prstDash val="solid"/>
            <a:tailEnd type="triangle"/>
          </a:ln>
        </p:spPr>
      </p:sp>
      <p:sp>
        <p:nvSpPr>
          <p:cNvPr id="12" name="Arrow"/>
          <p:cNvSpPr/>
          <p:nvPr/>
        </p:nvSpPr>
        <p:spPr>
          <a:xfrm>
            <a:off x="4800600" y="2011680"/>
            <a:ext cx="0" cy="457200"/>
          </a:xfrm>
          <a:prstGeom prst="line">
            <a:avLst/>
          </a:prstGeom>
          <a:noFill/>
          <a:ln w="28575">
            <a:solidFill>
              <a:schemeClr val="tx2"/>
            </a:solidFill>
            <a:prstDash val="solid"/>
            <a:tailEnd type="triangle"/>
          </a:ln>
        </p:spPr>
      </p:sp>
      <p:sp>
        <p:nvSpPr>
          <p:cNvPr id="13" name="Run Label"/>
          <p:cNvSpPr txBox="1"/>
          <p:nvPr/>
        </p:nvSpPr>
        <p:spPr>
          <a:xfrm>
            <a:off x="4937760" y="2084832"/>
            <a:ext cx="1645920" cy="274320"/>
          </a:xfrm>
          <a:prstGeom prst="rect">
            <a:avLst/>
          </a:prstGeom>
          <a:noFill/>
          <a:ln/>
        </p:spPr>
        <p:txBody>
          <a:bodyPr wrap="square" lIns="0" tIns="0" rIns="0" bIns="0" rtlCol="0" anchor="ctr"/>
          <a:lstStyle/>
          <a:p>
            <a:pPr marL="0" indent="0">
              <a:buNone/>
            </a:pPr>
            <a:r>
              <a:rPr lang="en-US" sz="1100" dirty="0">
                <a:solidFill>
                  <a:schemeClr val="accent5"/>
                </a:solidFill>
              </a:rPr>
              <a:t>runs the C demo</a:t>
            </a:r>
            <a:endParaRPr lang="en-US" sz="1100" dirty="0"/>
          </a:p>
        </p:txBody>
      </p:sp>
      <p:sp>
        <p:nvSpPr>
          <p:cNvPr id="14" name="C Program Container"/>
          <p:cNvSpPr/>
          <p:nvPr/>
        </p:nvSpPr>
        <p:spPr>
          <a:xfrm>
            <a:off x="457200" y="2468880"/>
            <a:ext cx="8229600" cy="2194560"/>
          </a:xfrm>
          <a:prstGeom prst="roundRect">
            <a:avLst>
              <a:gd name="adj" fmla="val 4167"/>
            </a:avLst>
          </a:prstGeom>
          <a:solidFill>
            <a:schemeClr val="bg2"/>
          </a:solidFill>
          <a:ln w="19050">
            <a:solidFill>
              <a:schemeClr val="accent1"/>
            </a:solidFill>
            <a:prstDash val="solid"/>
          </a:ln>
        </p:spPr>
      </p:sp>
      <p:sp>
        <p:nvSpPr>
          <p:cNvPr id="15" name="C Program Label"/>
          <p:cNvSpPr txBox="1"/>
          <p:nvPr/>
        </p:nvSpPr>
        <p:spPr>
          <a:xfrm>
            <a:off x="640080" y="2523744"/>
            <a:ext cx="7863840" cy="320040"/>
          </a:xfrm>
          <a:prstGeom prst="rect">
            <a:avLst/>
          </a:prstGeom>
          <a:noFill/>
          <a:ln/>
        </p:spPr>
        <p:txBody>
          <a:bodyPr wrap="square" lIns="0" tIns="0" rIns="0" bIns="0" rtlCol="0" anchor="ctr"/>
          <a:lstStyle/>
          <a:p>
            <a:pPr marL="0" indent="0">
              <a:buNone/>
            </a:pPr>
            <a:r>
              <a:rPr lang="en-US" sz="1400" b="1" dirty="0">
                <a:solidFill>
                  <a:schemeClr val="accent1"/>
                </a:solidFill>
              </a:rPr>
              <a:t>C program: the parent creates the child with fork()</a:t>
            </a:r>
            <a:endParaRPr lang="en-US" sz="1400" dirty="0"/>
          </a:p>
        </p:txBody>
      </p:sp>
      <p:sp>
        <p:nvSpPr>
          <p:cNvPr id="16" name="Parent Box"/>
          <p:cNvSpPr/>
          <p:nvPr/>
        </p:nvSpPr>
        <p:spPr>
          <a:xfrm>
            <a:off x="822960" y="2926080"/>
            <a:ext cx="2103120" cy="777240"/>
          </a:xfrm>
          <a:prstGeom prst="roundRect">
            <a:avLst>
              <a:gd name="adj" fmla="val 11765"/>
            </a:avLst>
          </a:prstGeom>
          <a:solidFill>
            <a:schemeClr val="accent1"/>
          </a:solidFill>
          <a:ln w="12700">
            <a:solidFill>
              <a:schemeClr val="accent1"/>
            </a:solidFill>
            <a:prstDash val="solid"/>
          </a:ln>
        </p:spPr>
      </p:sp>
      <p:sp>
        <p:nvSpPr>
          <p:cNvPr id="17" name="Parent Label"/>
          <p:cNvSpPr txBox="1"/>
          <p:nvPr/>
        </p:nvSpPr>
        <p:spPr>
          <a:xfrm>
            <a:off x="822960" y="2926080"/>
            <a:ext cx="2103120" cy="777240"/>
          </a:xfrm>
          <a:prstGeom prst="rect">
            <a:avLst/>
          </a:prstGeom>
          <a:noFill/>
          <a:ln/>
        </p:spPr>
        <p:txBody>
          <a:bodyPr wrap="square" lIns="635" tIns="635" rIns="635" bIns="635" rtlCol="0" anchor="ctr"/>
          <a:lstStyle/>
          <a:p>
            <a:pPr marL="0" indent="0" algn="ctr">
              <a:buNone/>
            </a:pPr>
            <a:r>
              <a:rPr lang="en-US" sz="1500" b="1" dirty="0">
                <a:solidFill>
                  <a:schemeClr val="bg1"/>
                </a:solidFill>
              </a:rPr>
              <a:t>Parent Process</a:t>
            </a:r>
            <a:endParaRPr lang="en-US" sz="1500" dirty="0"/>
          </a:p>
          <a:p>
            <a:pPr marL="0" indent="0" algn="ctr">
              <a:buNone/>
            </a:pPr>
            <a:r>
              <a:rPr lang="en-US" sz="1200" dirty="0">
                <a:solidFill>
                  <a:schemeClr val="bg1"/>
                </a:solidFill>
              </a:rPr>
              <a:t>reads the message</a:t>
            </a:r>
            <a:endParaRPr lang="en-US" sz="1500" dirty="0"/>
          </a:p>
        </p:txBody>
      </p:sp>
      <p:sp>
        <p:nvSpPr>
          <p:cNvPr id="18" name="Shared Memory Box"/>
          <p:cNvSpPr/>
          <p:nvPr/>
        </p:nvSpPr>
        <p:spPr>
          <a:xfrm>
            <a:off x="3566160" y="2926080"/>
            <a:ext cx="2011680" cy="777240"/>
          </a:xfrm>
          <a:prstGeom prst="roundRect">
            <a:avLst>
              <a:gd name="adj" fmla="val 11765"/>
            </a:avLst>
          </a:prstGeom>
          <a:solidFill>
            <a:schemeClr val="accent2"/>
          </a:solidFill>
          <a:ln w="12700">
            <a:solidFill>
              <a:schemeClr val="accent2"/>
            </a:solidFill>
            <a:prstDash val="solid"/>
          </a:ln>
        </p:spPr>
      </p:sp>
      <p:sp>
        <p:nvSpPr>
          <p:cNvPr id="19" name="Shared Memory Label"/>
          <p:cNvSpPr txBox="1"/>
          <p:nvPr/>
        </p:nvSpPr>
        <p:spPr>
          <a:xfrm>
            <a:off x="3566160" y="2926080"/>
            <a:ext cx="2011680" cy="777240"/>
          </a:xfrm>
          <a:prstGeom prst="rect">
            <a:avLst/>
          </a:prstGeom>
          <a:noFill/>
          <a:ln/>
        </p:spPr>
        <p:txBody>
          <a:bodyPr wrap="square" lIns="635" tIns="635" rIns="635" bIns="635" rtlCol="0" anchor="ctr"/>
          <a:lstStyle/>
          <a:p>
            <a:pPr marL="0" indent="0" algn="ctr">
              <a:buNone/>
            </a:pPr>
            <a:r>
              <a:rPr lang="en-US" sz="1500" b="1" dirty="0">
                <a:solidFill>
                  <a:schemeClr val="tx1"/>
                </a:solidFill>
              </a:rPr>
              <a:t>Shared Memory</a:t>
            </a:r>
            <a:endParaRPr lang="en-US" sz="1500" dirty="0"/>
          </a:p>
          <a:p>
            <a:pPr marL="0" indent="0" algn="ctr">
              <a:buNone/>
            </a:pPr>
            <a:r>
              <a:rPr lang="en-US" sz="1200" dirty="0">
                <a:solidFill>
                  <a:schemeClr val="tx1"/>
                </a:solidFill>
              </a:rPr>
              <a:t>shm_open + mmap</a:t>
            </a:r>
            <a:endParaRPr lang="en-US" sz="1500" dirty="0"/>
          </a:p>
        </p:txBody>
      </p:sp>
      <p:sp>
        <p:nvSpPr>
          <p:cNvPr id="20" name="Child Box"/>
          <p:cNvSpPr/>
          <p:nvPr/>
        </p:nvSpPr>
        <p:spPr>
          <a:xfrm>
            <a:off x="6217920" y="2926080"/>
            <a:ext cx="2103120" cy="777240"/>
          </a:xfrm>
          <a:prstGeom prst="roundRect">
            <a:avLst>
              <a:gd name="adj" fmla="val 11765"/>
            </a:avLst>
          </a:prstGeom>
          <a:solidFill>
            <a:schemeClr val="accent1"/>
          </a:solidFill>
          <a:ln w="12700">
            <a:solidFill>
              <a:schemeClr val="accent1"/>
            </a:solidFill>
            <a:prstDash val="solid"/>
          </a:ln>
        </p:spPr>
      </p:sp>
      <p:sp>
        <p:nvSpPr>
          <p:cNvPr id="21" name="Child Label"/>
          <p:cNvSpPr txBox="1"/>
          <p:nvPr/>
        </p:nvSpPr>
        <p:spPr>
          <a:xfrm>
            <a:off x="6217920" y="2926080"/>
            <a:ext cx="2103120" cy="777240"/>
          </a:xfrm>
          <a:prstGeom prst="rect">
            <a:avLst/>
          </a:prstGeom>
          <a:noFill/>
          <a:ln/>
        </p:spPr>
        <p:txBody>
          <a:bodyPr wrap="square" lIns="635" tIns="635" rIns="635" bIns="635" rtlCol="0" anchor="ctr"/>
          <a:lstStyle/>
          <a:p>
            <a:pPr marL="0" indent="0" algn="ctr">
              <a:buNone/>
            </a:pPr>
            <a:r>
              <a:rPr lang="en-US" sz="1500" b="1" dirty="0">
                <a:solidFill>
                  <a:schemeClr val="bg1"/>
                </a:solidFill>
              </a:rPr>
              <a:t>Child Process</a:t>
            </a:r>
            <a:endParaRPr lang="en-US" sz="1500" dirty="0"/>
          </a:p>
          <a:p>
            <a:pPr marL="0" indent="0" algn="ctr">
              <a:buNone/>
            </a:pPr>
            <a:r>
              <a:rPr lang="en-US" sz="1200" dirty="0">
                <a:solidFill>
                  <a:schemeClr val="bg1"/>
                </a:solidFill>
              </a:rPr>
              <a:t>writes the message</a:t>
            </a:r>
            <a:endParaRPr lang="en-US" sz="1500" dirty="0"/>
          </a:p>
        </p:txBody>
      </p:sp>
      <p:sp>
        <p:nvSpPr>
          <p:cNvPr id="22" name="Arrow"/>
          <p:cNvSpPr/>
          <p:nvPr/>
        </p:nvSpPr>
        <p:spPr>
          <a:xfrm flipH="1">
            <a:off x="5577840" y="3314700"/>
            <a:ext cx="640080" cy="0"/>
          </a:xfrm>
          <a:prstGeom prst="line">
            <a:avLst/>
          </a:prstGeom>
          <a:noFill/>
          <a:ln w="28575">
            <a:solidFill>
              <a:schemeClr val="tx2"/>
            </a:solidFill>
            <a:prstDash val="solid"/>
            <a:tailEnd type="triangle"/>
          </a:ln>
        </p:spPr>
      </p:sp>
      <p:sp>
        <p:nvSpPr>
          <p:cNvPr id="23" name="Arrow"/>
          <p:cNvSpPr/>
          <p:nvPr/>
        </p:nvSpPr>
        <p:spPr>
          <a:xfrm flipH="1">
            <a:off x="2926080" y="3314700"/>
            <a:ext cx="640080" cy="0"/>
          </a:xfrm>
          <a:prstGeom prst="line">
            <a:avLst/>
          </a:prstGeom>
          <a:noFill/>
          <a:ln w="28575">
            <a:solidFill>
              <a:schemeClr val="tx2"/>
            </a:solidFill>
            <a:prstDash val="solid"/>
            <a:tailEnd type="triangle"/>
          </a:ln>
        </p:spPr>
      </p:sp>
      <p:sp>
        <p:nvSpPr>
          <p:cNvPr id="24" name="Writes Label"/>
          <p:cNvSpPr txBox="1"/>
          <p:nvPr/>
        </p:nvSpPr>
        <p:spPr>
          <a:xfrm>
            <a:off x="5577840" y="2999232"/>
            <a:ext cx="640080" cy="274320"/>
          </a:xfrm>
          <a:prstGeom prst="rect">
            <a:avLst/>
          </a:prstGeom>
          <a:noFill/>
          <a:ln/>
        </p:spPr>
        <p:txBody>
          <a:bodyPr wrap="square" lIns="0" tIns="0" rIns="0" bIns="0" rtlCol="0" anchor="ctr"/>
          <a:lstStyle/>
          <a:p>
            <a:pPr marL="0" indent="0" algn="ctr">
              <a:buNone/>
            </a:pPr>
            <a:r>
              <a:rPr lang="en-US" sz="1100" dirty="0">
                <a:solidFill>
                  <a:schemeClr val="accent5"/>
                </a:solidFill>
              </a:rPr>
              <a:t>writes</a:t>
            </a:r>
            <a:endParaRPr lang="en-US" sz="1100" dirty="0"/>
          </a:p>
        </p:txBody>
      </p:sp>
      <p:sp>
        <p:nvSpPr>
          <p:cNvPr id="25" name="Reads Label"/>
          <p:cNvSpPr txBox="1"/>
          <p:nvPr/>
        </p:nvSpPr>
        <p:spPr>
          <a:xfrm>
            <a:off x="2926080" y="2999232"/>
            <a:ext cx="640080" cy="274320"/>
          </a:xfrm>
          <a:prstGeom prst="rect">
            <a:avLst/>
          </a:prstGeom>
          <a:noFill/>
          <a:ln/>
        </p:spPr>
        <p:txBody>
          <a:bodyPr wrap="square" lIns="0" tIns="0" rIns="0" bIns="0" rtlCol="0" anchor="ctr"/>
          <a:lstStyle/>
          <a:p>
            <a:pPr marL="0" indent="0" algn="ctr">
              <a:buNone/>
            </a:pPr>
            <a:r>
              <a:rPr lang="en-US" sz="1100" dirty="0">
                <a:solidFill>
                  <a:schemeClr val="accent5"/>
                </a:solidFill>
              </a:rPr>
              <a:t>reads</a:t>
            </a:r>
            <a:endParaRPr lang="en-US" sz="1100" dirty="0"/>
          </a:p>
        </p:txBody>
      </p:sp>
      <p:sp>
        <p:nvSpPr>
          <p:cNvPr id="26" name="Semaphore Band"/>
          <p:cNvSpPr/>
          <p:nvPr/>
        </p:nvSpPr>
        <p:spPr>
          <a:xfrm>
            <a:off x="822960" y="3931920"/>
            <a:ext cx="7498080" cy="548640"/>
          </a:xfrm>
          <a:prstGeom prst="roundRect">
            <a:avLst>
              <a:gd name="adj" fmla="val 13333"/>
            </a:avLst>
          </a:prstGeom>
          <a:solidFill>
            <a:schemeClr val="bg1"/>
          </a:solidFill>
          <a:ln w="19050">
            <a:solidFill>
              <a:schemeClr val="accent2"/>
            </a:solidFill>
            <a:prstDash val="solid"/>
          </a:ln>
        </p:spPr>
      </p:sp>
      <p:sp>
        <p:nvSpPr>
          <p:cNvPr id="27" name="Semaphore Text"/>
          <p:cNvSpPr txBox="1"/>
          <p:nvPr/>
        </p:nvSpPr>
        <p:spPr>
          <a:xfrm>
            <a:off x="822960" y="3931920"/>
            <a:ext cx="7498080" cy="548640"/>
          </a:xfrm>
          <a:prstGeom prst="rect">
            <a:avLst/>
          </a:prstGeom>
          <a:noFill/>
          <a:ln/>
        </p:spPr>
        <p:txBody>
          <a:bodyPr wrap="square" lIns="0" tIns="0" rIns="0" bIns="0" rtlCol="0" anchor="ctr"/>
          <a:lstStyle/>
          <a:p>
            <a:pPr marL="0" indent="0" algn="ctr">
              <a:buNone/>
            </a:pPr>
            <a:r>
              <a:rPr lang="en-US" sz="1400" b="1" dirty="0">
                <a:solidFill>
                  <a:schemeClr val="tx1"/>
                </a:solidFill>
              </a:rPr>
              <a:t>Named semaphore: only one process uses the shared memory at a time</a:t>
            </a:r>
            <a:endParaRPr lang="en-US" sz="1400" dirty="0"/>
          </a:p>
        </p:txBody>
      </p:sp>
      <p:sp>
        <p:nvSpPr>
          <p:cNvPr id="28"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Implementation and Working</a:t>
            </a:r>
            <a:endParaRPr lang="en-US" sz="3000" dirty="0"/>
          </a:p>
        </p:txBody>
      </p:sp>
      <p:sp>
        <p:nvSpPr>
          <p:cNvPr id="3" name="Impl Card 1"/>
          <p:cNvSpPr/>
          <p:nvPr/>
        </p:nvSpPr>
        <p:spPr>
          <a:xfrm>
            <a:off x="457200" y="1234440"/>
            <a:ext cx="4023360" cy="1600200"/>
          </a:xfrm>
          <a:prstGeom prst="roundRect">
            <a:avLst>
              <a:gd name="adj" fmla="val 5714"/>
            </a:avLst>
          </a:prstGeom>
          <a:solidFill>
            <a:schemeClr val="bg2"/>
          </a:solidFill>
          <a:ln w="12700">
            <a:solidFill>
              <a:schemeClr val="bg2"/>
            </a:solidFill>
            <a:prstDash val="solid"/>
          </a:ln>
        </p:spPr>
      </p:sp>
      <p:sp>
        <p:nvSpPr>
          <p:cNvPr id="4" name="Impl Icon Circle 1"/>
          <p:cNvSpPr/>
          <p:nvPr/>
        </p:nvSpPr>
        <p:spPr>
          <a:xfrm>
            <a:off x="685800" y="1463040"/>
            <a:ext cx="594360" cy="594360"/>
          </a:xfrm>
          <a:prstGeom prst="ellipse">
            <a:avLst/>
          </a:prstGeom>
          <a:solidFill>
            <a:schemeClr val="accent1"/>
          </a:solidFill>
          <a:ln w="12700">
            <a:solidFill>
              <a:schemeClr val="accent1"/>
            </a:solidFill>
            <a:prstDash val="solid"/>
          </a:ln>
        </p:spPr>
      </p:sp>
      <p:pic>
        <p:nvPicPr>
          <p:cNvPr id="5" name="Impl Icon 1" descr="shm_open() icon"/>
          <p:cNvPicPr>
            <a:picLocks noChangeAspect="1"/>
          </p:cNvPicPr>
          <p:nvPr/>
        </p:nvPicPr>
        <p:blipFill>
          <a:blip r:embed="rId3"/>
          <a:stretch>
            <a:fillRect/>
          </a:stretch>
        </p:blipFill>
        <p:spPr>
          <a:xfrm>
            <a:off x="822960" y="1600200"/>
            <a:ext cx="320040" cy="320040"/>
          </a:xfrm>
          <a:prstGeom prst="rect">
            <a:avLst/>
          </a:prstGeom>
        </p:spPr>
      </p:pic>
      <p:sp>
        <p:nvSpPr>
          <p:cNvPr id="6" name="Impl Title 1"/>
          <p:cNvSpPr txBox="1"/>
          <p:nvPr/>
        </p:nvSpPr>
        <p:spPr>
          <a:xfrm>
            <a:off x="1463040" y="1417320"/>
            <a:ext cx="2834640" cy="365760"/>
          </a:xfrm>
          <a:prstGeom prst="rect">
            <a:avLst/>
          </a:prstGeom>
          <a:noFill/>
          <a:ln/>
        </p:spPr>
        <p:txBody>
          <a:bodyPr wrap="square" lIns="0" tIns="0" rIns="0" bIns="0" rtlCol="0" anchor="ctr"/>
          <a:lstStyle/>
          <a:p>
            <a:pPr marL="0" indent="0">
              <a:buNone/>
            </a:pPr>
            <a:r>
              <a:rPr lang="en-US" sz="1600" b="1" dirty="0">
                <a:solidFill>
                  <a:schemeClr val="tx1"/>
                </a:solidFill>
                <a:latin typeface="Courier New" pitchFamily="34" charset="0"/>
                <a:ea typeface="Courier New" pitchFamily="34" charset="-122"/>
                <a:cs typeface="Courier New" pitchFamily="34" charset="-120"/>
              </a:rPr>
              <a:t>shm_open()</a:t>
            </a:r>
            <a:endParaRPr lang="en-US" sz="1600" dirty="0"/>
          </a:p>
        </p:txBody>
      </p:sp>
      <p:sp>
        <p:nvSpPr>
          <p:cNvPr id="7" name="Impl Desc 1"/>
          <p:cNvSpPr txBox="1"/>
          <p:nvPr/>
        </p:nvSpPr>
        <p:spPr>
          <a:xfrm>
            <a:off x="1463040" y="1828800"/>
            <a:ext cx="2834640" cy="914400"/>
          </a:xfrm>
          <a:prstGeom prst="rect">
            <a:avLst/>
          </a:prstGeom>
          <a:noFill/>
          <a:ln/>
        </p:spPr>
        <p:txBody>
          <a:bodyPr wrap="square" lIns="0" tIns="0" rIns="0" bIns="0" rtlCol="0" anchor="t"/>
          <a:lstStyle/>
          <a:p>
            <a:pPr marL="0" indent="0">
              <a:buNone/>
            </a:pPr>
            <a:r>
              <a:rPr lang="en-US" sz="1400" dirty="0">
                <a:solidFill>
                  <a:schemeClr val="tx1"/>
                </a:solidFill>
              </a:rPr>
              <a:t>Creates or opens a named shared memory object that processes can find by name.</a:t>
            </a:r>
            <a:endParaRPr lang="en-US" sz="1400" dirty="0"/>
          </a:p>
        </p:txBody>
      </p:sp>
      <p:sp>
        <p:nvSpPr>
          <p:cNvPr id="8" name="Impl Card 2"/>
          <p:cNvSpPr/>
          <p:nvPr/>
        </p:nvSpPr>
        <p:spPr>
          <a:xfrm>
            <a:off x="4663440" y="1234440"/>
            <a:ext cx="4023360" cy="1600200"/>
          </a:xfrm>
          <a:prstGeom prst="roundRect">
            <a:avLst>
              <a:gd name="adj" fmla="val 5714"/>
            </a:avLst>
          </a:prstGeom>
          <a:solidFill>
            <a:schemeClr val="bg2"/>
          </a:solidFill>
          <a:ln w="12700">
            <a:solidFill>
              <a:schemeClr val="bg2"/>
            </a:solidFill>
            <a:prstDash val="solid"/>
          </a:ln>
        </p:spPr>
      </p:sp>
      <p:sp>
        <p:nvSpPr>
          <p:cNvPr id="9" name="Impl Icon Circle 2"/>
          <p:cNvSpPr/>
          <p:nvPr/>
        </p:nvSpPr>
        <p:spPr>
          <a:xfrm>
            <a:off x="4892040" y="1463040"/>
            <a:ext cx="594360" cy="594360"/>
          </a:xfrm>
          <a:prstGeom prst="ellipse">
            <a:avLst/>
          </a:prstGeom>
          <a:solidFill>
            <a:schemeClr val="accent4"/>
          </a:solidFill>
          <a:ln w="12700">
            <a:solidFill>
              <a:schemeClr val="accent4"/>
            </a:solidFill>
            <a:prstDash val="solid"/>
          </a:ln>
        </p:spPr>
      </p:sp>
      <p:pic>
        <p:nvPicPr>
          <p:cNvPr id="10" name="Impl Icon 2" descr="ftruncate() + mmap() icon"/>
          <p:cNvPicPr>
            <a:picLocks noChangeAspect="1"/>
          </p:cNvPicPr>
          <p:nvPr/>
        </p:nvPicPr>
        <p:blipFill>
          <a:blip r:embed="rId4"/>
          <a:stretch>
            <a:fillRect/>
          </a:stretch>
        </p:blipFill>
        <p:spPr>
          <a:xfrm>
            <a:off x="5029200" y="1600200"/>
            <a:ext cx="320040" cy="320040"/>
          </a:xfrm>
          <a:prstGeom prst="rect">
            <a:avLst/>
          </a:prstGeom>
        </p:spPr>
      </p:pic>
      <p:sp>
        <p:nvSpPr>
          <p:cNvPr id="11" name="Impl Title 2"/>
          <p:cNvSpPr txBox="1"/>
          <p:nvPr/>
        </p:nvSpPr>
        <p:spPr>
          <a:xfrm>
            <a:off x="5669280" y="1417320"/>
            <a:ext cx="2834640" cy="365760"/>
          </a:xfrm>
          <a:prstGeom prst="rect">
            <a:avLst/>
          </a:prstGeom>
          <a:noFill/>
          <a:ln/>
        </p:spPr>
        <p:txBody>
          <a:bodyPr wrap="square" lIns="0" tIns="0" rIns="0" bIns="0" rtlCol="0" anchor="ctr"/>
          <a:lstStyle/>
          <a:p>
            <a:pPr marL="0" indent="0">
              <a:buNone/>
            </a:pPr>
            <a:r>
              <a:rPr lang="en-US" sz="1600" b="1" dirty="0">
                <a:solidFill>
                  <a:schemeClr val="tx1"/>
                </a:solidFill>
                <a:latin typeface="Courier New" pitchFamily="34" charset="0"/>
                <a:ea typeface="Courier New" pitchFamily="34" charset="-122"/>
                <a:cs typeface="Courier New" pitchFamily="34" charset="-120"/>
              </a:rPr>
              <a:t>ftruncate() + mmap()</a:t>
            </a:r>
            <a:endParaRPr lang="en-US" sz="1600" dirty="0"/>
          </a:p>
        </p:txBody>
      </p:sp>
      <p:sp>
        <p:nvSpPr>
          <p:cNvPr id="12" name="Impl Desc 2"/>
          <p:cNvSpPr txBox="1"/>
          <p:nvPr/>
        </p:nvSpPr>
        <p:spPr>
          <a:xfrm>
            <a:off x="5669280" y="1828800"/>
            <a:ext cx="2834640" cy="914400"/>
          </a:xfrm>
          <a:prstGeom prst="rect">
            <a:avLst/>
          </a:prstGeom>
          <a:noFill/>
          <a:ln/>
        </p:spPr>
        <p:txBody>
          <a:bodyPr wrap="square" lIns="0" tIns="0" rIns="0" bIns="0" rtlCol="0" anchor="t"/>
          <a:lstStyle/>
          <a:p>
            <a:pPr marL="0" indent="0">
              <a:buNone/>
            </a:pPr>
            <a:r>
              <a:rPr lang="en-US" sz="1400" dirty="0">
                <a:solidFill>
                  <a:schemeClr val="tx1"/>
                </a:solidFill>
              </a:rPr>
              <a:t>ftruncate sets the size. mmap maps it into the process so it can be used like normal memory.</a:t>
            </a:r>
            <a:endParaRPr lang="en-US" sz="1400" dirty="0"/>
          </a:p>
        </p:txBody>
      </p:sp>
      <p:sp>
        <p:nvSpPr>
          <p:cNvPr id="13" name="Impl Card 3"/>
          <p:cNvSpPr/>
          <p:nvPr/>
        </p:nvSpPr>
        <p:spPr>
          <a:xfrm>
            <a:off x="457200" y="3017520"/>
            <a:ext cx="4023360" cy="1600200"/>
          </a:xfrm>
          <a:prstGeom prst="roundRect">
            <a:avLst>
              <a:gd name="adj" fmla="val 5714"/>
            </a:avLst>
          </a:prstGeom>
          <a:solidFill>
            <a:schemeClr val="bg2"/>
          </a:solidFill>
          <a:ln w="12700">
            <a:solidFill>
              <a:schemeClr val="bg2"/>
            </a:solidFill>
            <a:prstDash val="solid"/>
          </a:ln>
        </p:spPr>
      </p:sp>
      <p:sp>
        <p:nvSpPr>
          <p:cNvPr id="14" name="Impl Icon Circle 3"/>
          <p:cNvSpPr/>
          <p:nvPr/>
        </p:nvSpPr>
        <p:spPr>
          <a:xfrm>
            <a:off x="685800" y="3246120"/>
            <a:ext cx="594360" cy="594360"/>
          </a:xfrm>
          <a:prstGeom prst="ellipse">
            <a:avLst/>
          </a:prstGeom>
          <a:solidFill>
            <a:schemeClr val="accent3"/>
          </a:solidFill>
          <a:ln w="12700">
            <a:solidFill>
              <a:schemeClr val="accent3"/>
            </a:solidFill>
            <a:prstDash val="solid"/>
          </a:ln>
        </p:spPr>
      </p:sp>
      <p:pic>
        <p:nvPicPr>
          <p:cNvPr id="15" name="Impl Icon 3" descr="fork() icon"/>
          <p:cNvPicPr>
            <a:picLocks noChangeAspect="1"/>
          </p:cNvPicPr>
          <p:nvPr/>
        </p:nvPicPr>
        <p:blipFill>
          <a:blip r:embed="rId5"/>
          <a:stretch>
            <a:fillRect/>
          </a:stretch>
        </p:blipFill>
        <p:spPr>
          <a:xfrm>
            <a:off x="822960" y="3383280"/>
            <a:ext cx="320040" cy="320040"/>
          </a:xfrm>
          <a:prstGeom prst="rect">
            <a:avLst/>
          </a:prstGeom>
        </p:spPr>
      </p:pic>
      <p:sp>
        <p:nvSpPr>
          <p:cNvPr id="16" name="Impl Title 3"/>
          <p:cNvSpPr txBox="1"/>
          <p:nvPr/>
        </p:nvSpPr>
        <p:spPr>
          <a:xfrm>
            <a:off x="1463040" y="3200400"/>
            <a:ext cx="2834640" cy="365760"/>
          </a:xfrm>
          <a:prstGeom prst="rect">
            <a:avLst/>
          </a:prstGeom>
          <a:noFill/>
          <a:ln/>
        </p:spPr>
        <p:txBody>
          <a:bodyPr wrap="square" lIns="0" tIns="0" rIns="0" bIns="0" rtlCol="0" anchor="ctr"/>
          <a:lstStyle/>
          <a:p>
            <a:pPr marL="0" indent="0">
              <a:buNone/>
            </a:pPr>
            <a:r>
              <a:rPr lang="en-US" sz="1600" b="1" dirty="0">
                <a:solidFill>
                  <a:schemeClr val="tx1"/>
                </a:solidFill>
                <a:latin typeface="Courier New" pitchFamily="34" charset="0"/>
                <a:ea typeface="Courier New" pitchFamily="34" charset="-122"/>
                <a:cs typeface="Courier New" pitchFamily="34" charset="-120"/>
              </a:rPr>
              <a:t>fork()</a:t>
            </a:r>
            <a:endParaRPr lang="en-US" sz="1600" dirty="0"/>
          </a:p>
        </p:txBody>
      </p:sp>
      <p:sp>
        <p:nvSpPr>
          <p:cNvPr id="17" name="Impl Desc 3"/>
          <p:cNvSpPr txBox="1"/>
          <p:nvPr/>
        </p:nvSpPr>
        <p:spPr>
          <a:xfrm>
            <a:off x="1463040" y="3611880"/>
            <a:ext cx="2834640" cy="914400"/>
          </a:xfrm>
          <a:prstGeom prst="rect">
            <a:avLst/>
          </a:prstGeom>
          <a:noFill/>
          <a:ln/>
        </p:spPr>
        <p:txBody>
          <a:bodyPr wrap="square" lIns="0" tIns="0" rIns="0" bIns="0" rtlCol="0" anchor="t"/>
          <a:lstStyle/>
          <a:p>
            <a:pPr marL="0" indent="0">
              <a:buNone/>
            </a:pPr>
            <a:r>
              <a:rPr lang="en-US" sz="1400" dirty="0">
                <a:solidFill>
                  <a:schemeClr val="tx1"/>
                </a:solidFill>
              </a:rPr>
              <a:t>Creates a child process. The parent and child can then both use the shared memory.</a:t>
            </a:r>
            <a:endParaRPr lang="en-US" sz="1400" dirty="0"/>
          </a:p>
        </p:txBody>
      </p:sp>
      <p:sp>
        <p:nvSpPr>
          <p:cNvPr id="18" name="Impl Card 4"/>
          <p:cNvSpPr/>
          <p:nvPr/>
        </p:nvSpPr>
        <p:spPr>
          <a:xfrm>
            <a:off x="4663440" y="3017520"/>
            <a:ext cx="4023360" cy="1600200"/>
          </a:xfrm>
          <a:prstGeom prst="roundRect">
            <a:avLst>
              <a:gd name="adj" fmla="val 5714"/>
            </a:avLst>
          </a:prstGeom>
          <a:solidFill>
            <a:schemeClr val="bg2"/>
          </a:solidFill>
          <a:ln w="12700">
            <a:solidFill>
              <a:schemeClr val="bg2"/>
            </a:solidFill>
            <a:prstDash val="solid"/>
          </a:ln>
        </p:spPr>
      </p:sp>
      <p:sp>
        <p:nvSpPr>
          <p:cNvPr id="19" name="Impl Icon Circle 4"/>
          <p:cNvSpPr/>
          <p:nvPr/>
        </p:nvSpPr>
        <p:spPr>
          <a:xfrm>
            <a:off x="4892040" y="3246120"/>
            <a:ext cx="594360" cy="594360"/>
          </a:xfrm>
          <a:prstGeom prst="ellipse">
            <a:avLst/>
          </a:prstGeom>
          <a:solidFill>
            <a:schemeClr val="accent2"/>
          </a:solidFill>
          <a:ln w="12700">
            <a:solidFill>
              <a:schemeClr val="accent2"/>
            </a:solidFill>
            <a:prstDash val="solid"/>
          </a:ln>
        </p:spPr>
      </p:sp>
      <p:pic>
        <p:nvPicPr>
          <p:cNvPr id="20" name="Impl Icon 4" descr="Named Semaphore icon"/>
          <p:cNvPicPr>
            <a:picLocks noChangeAspect="1"/>
          </p:cNvPicPr>
          <p:nvPr/>
        </p:nvPicPr>
        <p:blipFill>
          <a:blip r:embed="rId6"/>
          <a:stretch>
            <a:fillRect/>
          </a:stretch>
        </p:blipFill>
        <p:spPr>
          <a:xfrm>
            <a:off x="5029200" y="3383280"/>
            <a:ext cx="320040" cy="320040"/>
          </a:xfrm>
          <a:prstGeom prst="rect">
            <a:avLst/>
          </a:prstGeom>
        </p:spPr>
      </p:pic>
      <p:sp>
        <p:nvSpPr>
          <p:cNvPr id="21" name="Impl Title 4"/>
          <p:cNvSpPr txBox="1"/>
          <p:nvPr/>
        </p:nvSpPr>
        <p:spPr>
          <a:xfrm>
            <a:off x="5669280" y="3200400"/>
            <a:ext cx="2834640" cy="365760"/>
          </a:xfrm>
          <a:prstGeom prst="rect">
            <a:avLst/>
          </a:prstGeom>
          <a:noFill/>
          <a:ln/>
        </p:spPr>
        <p:txBody>
          <a:bodyPr wrap="square" lIns="0" tIns="0" rIns="0" bIns="0" rtlCol="0" anchor="ctr"/>
          <a:lstStyle/>
          <a:p>
            <a:pPr marL="0" indent="0">
              <a:buNone/>
            </a:pPr>
            <a:r>
              <a:rPr lang="en-US" sz="1600" b="1" dirty="0">
                <a:solidFill>
                  <a:schemeClr val="tx1"/>
                </a:solidFill>
              </a:rPr>
              <a:t>Named Semaphore</a:t>
            </a:r>
            <a:endParaRPr lang="en-US" sz="1600" dirty="0"/>
          </a:p>
        </p:txBody>
      </p:sp>
      <p:sp>
        <p:nvSpPr>
          <p:cNvPr id="22" name="Impl Desc 4"/>
          <p:cNvSpPr txBox="1"/>
          <p:nvPr/>
        </p:nvSpPr>
        <p:spPr>
          <a:xfrm>
            <a:off x="5669280" y="3611880"/>
            <a:ext cx="2834640" cy="914400"/>
          </a:xfrm>
          <a:prstGeom prst="rect">
            <a:avLst/>
          </a:prstGeom>
          <a:noFill/>
          <a:ln/>
        </p:spPr>
        <p:txBody>
          <a:bodyPr wrap="square" lIns="0" tIns="0" rIns="0" bIns="0" rtlCol="0" anchor="t"/>
          <a:lstStyle/>
          <a:p>
            <a:pPr marL="0" indent="0">
              <a:buNone/>
            </a:pPr>
            <a:r>
              <a:rPr lang="en-US" sz="1400" dirty="0">
                <a:solidFill>
                  <a:schemeClr val="tx1"/>
                </a:solidFill>
              </a:rPr>
              <a:t>A turn-taker: wait before using the memory, then signal when done (sem_wait / sem_post).</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tx1"/>
                </a:solidFill>
              </a:rPr>
              <a:t>Demo and Results</a:t>
            </a:r>
            <a:endParaRPr lang="en-US" sz="3000" dirty="0"/>
          </a:p>
        </p:txBody>
      </p:sp>
      <p:sp>
        <p:nvSpPr>
          <p:cNvPr id="3" name="Step Circle 1"/>
          <p:cNvSpPr/>
          <p:nvPr/>
        </p:nvSpPr>
        <p:spPr>
          <a:xfrm>
            <a:off x="457200" y="1307592"/>
            <a:ext cx="411480" cy="411480"/>
          </a:xfrm>
          <a:prstGeom prst="ellipse">
            <a:avLst/>
          </a:prstGeom>
          <a:solidFill>
            <a:schemeClr val="accent1"/>
          </a:solidFill>
          <a:ln w="12700">
            <a:solidFill>
              <a:schemeClr val="accent1"/>
            </a:solidFill>
            <a:prstDash val="solid"/>
          </a:ln>
        </p:spPr>
      </p:sp>
      <p:sp>
        <p:nvSpPr>
          <p:cNvPr id="4" name="Step Number 1"/>
          <p:cNvSpPr txBox="1"/>
          <p:nvPr/>
        </p:nvSpPr>
        <p:spPr>
          <a:xfrm>
            <a:off x="457200" y="1307592"/>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5" name="Step Text 1"/>
          <p:cNvSpPr txBox="1"/>
          <p:nvPr/>
        </p:nvSpPr>
        <p:spPr>
          <a:xfrm>
            <a:off x="1005840" y="1234440"/>
            <a:ext cx="3383280" cy="566928"/>
          </a:xfrm>
          <a:prstGeom prst="rect">
            <a:avLst/>
          </a:prstGeom>
          <a:noFill/>
          <a:ln/>
        </p:spPr>
        <p:txBody>
          <a:bodyPr wrap="square" lIns="0" tIns="0" rIns="0" bIns="0" rtlCol="0" anchor="ctr"/>
          <a:lstStyle/>
          <a:p>
            <a:pPr marL="0" indent="0">
              <a:buNone/>
            </a:pPr>
            <a:r>
              <a:rPr lang="en-US" sz="1400" dirty="0">
                <a:solidFill>
                  <a:schemeClr val="tx1"/>
                </a:solidFill>
              </a:rPr>
              <a:t>Click the run button on the React webpage.</a:t>
            </a:r>
            <a:endParaRPr lang="en-US" sz="1400" dirty="0"/>
          </a:p>
        </p:txBody>
      </p:sp>
      <p:sp>
        <p:nvSpPr>
          <p:cNvPr id="6" name="Step Circle 2"/>
          <p:cNvSpPr/>
          <p:nvPr/>
        </p:nvSpPr>
        <p:spPr>
          <a:xfrm>
            <a:off x="457200" y="1984248"/>
            <a:ext cx="411480" cy="411480"/>
          </a:xfrm>
          <a:prstGeom prst="ellipse">
            <a:avLst/>
          </a:prstGeom>
          <a:solidFill>
            <a:schemeClr val="accent1"/>
          </a:solidFill>
          <a:ln w="12700">
            <a:solidFill>
              <a:schemeClr val="accent1"/>
            </a:solidFill>
            <a:prstDash val="solid"/>
          </a:ln>
        </p:spPr>
      </p:sp>
      <p:sp>
        <p:nvSpPr>
          <p:cNvPr id="7" name="Step Number 2"/>
          <p:cNvSpPr txBox="1"/>
          <p:nvPr/>
        </p:nvSpPr>
        <p:spPr>
          <a:xfrm>
            <a:off x="457200" y="1984248"/>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8" name="Step Text 2"/>
          <p:cNvSpPr txBox="1"/>
          <p:nvPr/>
        </p:nvSpPr>
        <p:spPr>
          <a:xfrm>
            <a:off x="1005840" y="1911096"/>
            <a:ext cx="3383280" cy="566928"/>
          </a:xfrm>
          <a:prstGeom prst="rect">
            <a:avLst/>
          </a:prstGeom>
          <a:noFill/>
          <a:ln/>
        </p:spPr>
        <p:txBody>
          <a:bodyPr wrap="square" lIns="0" tIns="0" rIns="0" bIns="0" rtlCol="0" anchor="ctr"/>
          <a:lstStyle/>
          <a:p>
            <a:pPr marL="0" indent="0">
              <a:buNone/>
            </a:pPr>
            <a:r>
              <a:rPr lang="en-US" sz="1400" dirty="0">
                <a:solidFill>
                  <a:schemeClr val="tx1"/>
                </a:solidFill>
              </a:rPr>
              <a:t>The Express backend starts the C demo.</a:t>
            </a:r>
            <a:endParaRPr lang="en-US" sz="1400" dirty="0"/>
          </a:p>
        </p:txBody>
      </p:sp>
      <p:sp>
        <p:nvSpPr>
          <p:cNvPr id="9" name="Step Circle 3"/>
          <p:cNvSpPr/>
          <p:nvPr/>
        </p:nvSpPr>
        <p:spPr>
          <a:xfrm>
            <a:off x="457200" y="2660904"/>
            <a:ext cx="411480" cy="411480"/>
          </a:xfrm>
          <a:prstGeom prst="ellipse">
            <a:avLst/>
          </a:prstGeom>
          <a:solidFill>
            <a:schemeClr val="accent1"/>
          </a:solidFill>
          <a:ln w="12700">
            <a:solidFill>
              <a:schemeClr val="accent1"/>
            </a:solidFill>
            <a:prstDash val="solid"/>
          </a:ln>
        </p:spPr>
      </p:sp>
      <p:sp>
        <p:nvSpPr>
          <p:cNvPr id="10" name="Step Number 3"/>
          <p:cNvSpPr txBox="1"/>
          <p:nvPr/>
        </p:nvSpPr>
        <p:spPr>
          <a:xfrm>
            <a:off x="457200" y="2660904"/>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1" name="Step Text 3"/>
          <p:cNvSpPr txBox="1"/>
          <p:nvPr/>
        </p:nvSpPr>
        <p:spPr>
          <a:xfrm>
            <a:off x="1005840" y="2587752"/>
            <a:ext cx="3383280" cy="566928"/>
          </a:xfrm>
          <a:prstGeom prst="rect">
            <a:avLst/>
          </a:prstGeom>
          <a:noFill/>
          <a:ln/>
        </p:spPr>
        <p:txBody>
          <a:bodyPr wrap="square" lIns="0" tIns="0" rIns="0" bIns="0" rtlCol="0" anchor="ctr"/>
          <a:lstStyle/>
          <a:p>
            <a:pPr marL="0" indent="0">
              <a:buNone/>
            </a:pPr>
            <a:r>
              <a:rPr lang="en-US" sz="1400" dirty="0">
                <a:solidFill>
                  <a:schemeClr val="tx1"/>
                </a:solidFill>
              </a:rPr>
              <a:t>The child process writes a message into shared memory.</a:t>
            </a:r>
            <a:endParaRPr lang="en-US" sz="1400" dirty="0"/>
          </a:p>
        </p:txBody>
      </p:sp>
      <p:sp>
        <p:nvSpPr>
          <p:cNvPr id="12" name="Step Circle 4"/>
          <p:cNvSpPr/>
          <p:nvPr/>
        </p:nvSpPr>
        <p:spPr>
          <a:xfrm>
            <a:off x="457200" y="3337560"/>
            <a:ext cx="411480" cy="411480"/>
          </a:xfrm>
          <a:prstGeom prst="ellipse">
            <a:avLst/>
          </a:prstGeom>
          <a:solidFill>
            <a:schemeClr val="accent1"/>
          </a:solidFill>
          <a:ln w="12700">
            <a:solidFill>
              <a:schemeClr val="accent1"/>
            </a:solidFill>
            <a:prstDash val="solid"/>
          </a:ln>
        </p:spPr>
      </p:sp>
      <p:sp>
        <p:nvSpPr>
          <p:cNvPr id="13" name="Step Number 4"/>
          <p:cNvSpPr txBox="1"/>
          <p:nvPr/>
        </p:nvSpPr>
        <p:spPr>
          <a:xfrm>
            <a:off x="457200" y="3337560"/>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4" name="Step Text 4"/>
          <p:cNvSpPr txBox="1"/>
          <p:nvPr/>
        </p:nvSpPr>
        <p:spPr>
          <a:xfrm>
            <a:off x="1005840" y="3264408"/>
            <a:ext cx="3383280" cy="566928"/>
          </a:xfrm>
          <a:prstGeom prst="rect">
            <a:avLst/>
          </a:prstGeom>
          <a:noFill/>
          <a:ln/>
        </p:spPr>
        <p:txBody>
          <a:bodyPr wrap="square" lIns="0" tIns="0" rIns="0" bIns="0" rtlCol="0" anchor="ctr"/>
          <a:lstStyle/>
          <a:p>
            <a:pPr marL="0" indent="0">
              <a:buNone/>
            </a:pPr>
            <a:r>
              <a:rPr lang="en-US" sz="1400" dirty="0">
                <a:solidFill>
                  <a:schemeClr val="tx1"/>
                </a:solidFill>
              </a:rPr>
              <a:t>The parent waits for its turn (semaphore), then reads the message.</a:t>
            </a:r>
            <a:endParaRPr lang="en-US" sz="1400" dirty="0"/>
          </a:p>
        </p:txBody>
      </p:sp>
      <p:sp>
        <p:nvSpPr>
          <p:cNvPr id="15" name="Step Circle 5"/>
          <p:cNvSpPr/>
          <p:nvPr/>
        </p:nvSpPr>
        <p:spPr>
          <a:xfrm>
            <a:off x="457200" y="4014216"/>
            <a:ext cx="411480" cy="411480"/>
          </a:xfrm>
          <a:prstGeom prst="ellipse">
            <a:avLst/>
          </a:prstGeom>
          <a:solidFill>
            <a:schemeClr val="accent1"/>
          </a:solidFill>
          <a:ln w="12700">
            <a:solidFill>
              <a:schemeClr val="accent1"/>
            </a:solidFill>
            <a:prstDash val="solid"/>
          </a:ln>
        </p:spPr>
      </p:sp>
      <p:sp>
        <p:nvSpPr>
          <p:cNvPr id="16" name="Step Number 5"/>
          <p:cNvSpPr txBox="1"/>
          <p:nvPr/>
        </p:nvSpPr>
        <p:spPr>
          <a:xfrm>
            <a:off x="457200" y="4014216"/>
            <a:ext cx="411480" cy="411480"/>
          </a:xfrm>
          <a:prstGeom prst="rect">
            <a:avLst/>
          </a:prstGeom>
          <a:noFill/>
          <a:ln/>
        </p:spPr>
        <p:txBody>
          <a:bodyPr wrap="square" lIns="0" tIns="0" rIns="0" bIns="0" rtlCol="0" anchor="ctr"/>
          <a:lstStyle/>
          <a:p>
            <a:pPr marL="0" indent="0" algn="ctr">
              <a:buNone/>
            </a:pPr>
            <a:r>
              <a:rPr lang="en-US" sz="1500" b="1" dirty="0">
                <a:solidFill>
                  <a:schemeClr val="bg1"/>
                </a:solidFill>
              </a:rPr>
              <a:t>5</a:t>
            </a:r>
            <a:endParaRPr lang="en-US" sz="1500" dirty="0"/>
          </a:p>
        </p:txBody>
      </p:sp>
      <p:sp>
        <p:nvSpPr>
          <p:cNvPr id="17" name="Step Text 5"/>
          <p:cNvSpPr txBox="1"/>
          <p:nvPr/>
        </p:nvSpPr>
        <p:spPr>
          <a:xfrm>
            <a:off x="1005840" y="3941064"/>
            <a:ext cx="3383280" cy="566928"/>
          </a:xfrm>
          <a:prstGeom prst="rect">
            <a:avLst/>
          </a:prstGeom>
          <a:noFill/>
          <a:ln/>
        </p:spPr>
        <p:txBody>
          <a:bodyPr wrap="square" lIns="0" tIns="0" rIns="0" bIns="0" rtlCol="0" anchor="ctr"/>
          <a:lstStyle/>
          <a:p>
            <a:pPr marL="0" indent="0">
              <a:buNone/>
            </a:pPr>
            <a:r>
              <a:rPr lang="en-US" sz="1400" dirty="0">
                <a:solidFill>
                  <a:schemeClr val="tx1"/>
                </a:solidFill>
              </a:rPr>
              <a:t>The output is shown on the webpage.</a:t>
            </a:r>
            <a:endParaRPr lang="en-US" sz="1400" dirty="0"/>
          </a:p>
        </p:txBody>
      </p:sp>
      <p:sp>
        <p:nvSpPr>
          <p:cNvPr id="18" name="Screenshot Placeholder"/>
          <p:cNvSpPr/>
          <p:nvPr/>
        </p:nvSpPr>
        <p:spPr>
          <a:xfrm>
            <a:off x="4663440" y="1234440"/>
            <a:ext cx="4023360" cy="2697480"/>
          </a:xfrm>
          <a:prstGeom prst="roundRect">
            <a:avLst>
              <a:gd name="adj" fmla="val 3390"/>
            </a:avLst>
          </a:prstGeom>
          <a:solidFill>
            <a:schemeClr val="bg2"/>
          </a:solidFill>
          <a:ln w="19050">
            <a:solidFill>
              <a:schemeClr val="accent5"/>
            </a:solidFill>
            <a:prstDash val="dash"/>
          </a:ln>
        </p:spPr>
      </p:sp>
      <p:sp>
        <p:nvSpPr>
          <p:cNvPr id="19" name="Screenshot Placeholder Text"/>
          <p:cNvSpPr txBox="1"/>
          <p:nvPr/>
        </p:nvSpPr>
        <p:spPr>
          <a:xfrm>
            <a:off x="4663440" y="1234440"/>
            <a:ext cx="4023360" cy="2697480"/>
          </a:xfrm>
          <a:prstGeom prst="rect">
            <a:avLst/>
          </a:prstGeom>
          <a:noFill/>
          <a:ln/>
        </p:spPr>
        <p:txBody>
          <a:bodyPr wrap="square" lIns="2540" tIns="2540" rIns="2540" bIns="2540" rtlCol="0" anchor="ctr"/>
          <a:lstStyle/>
          <a:p>
            <a:pPr marL="0" indent="0" algn="ctr">
              <a:spcAft>
                <a:spcPts val="400"/>
              </a:spcAft>
              <a:buNone/>
            </a:pPr>
            <a:r>
              <a:rPr lang="en-US" sz="1400" b="1" dirty="0">
                <a:solidFill>
                  <a:schemeClr val="accent5"/>
                </a:solidFill>
              </a:rPr>
              <a:t>[ Insert screenshot of webpage / output here ]</a:t>
            </a:r>
            <a:endParaRPr lang="en-US" sz="1400" dirty="0"/>
          </a:p>
          <a:p>
            <a:pPr marL="0" indent="0" algn="ctr">
              <a:spcAft>
                <a:spcPts val="400"/>
              </a:spcAft>
              <a:buNone/>
            </a:pPr>
            <a:r>
              <a:rPr lang="en-US" sz="1200" dirty="0">
                <a:solidFill>
                  <a:schemeClr val="accent5"/>
                </a:solidFill>
              </a:rPr>
              <a:t>Replace this box with your screenshot</a:t>
            </a:r>
            <a:endParaRPr lang="en-US" sz="1400" dirty="0"/>
          </a:p>
        </p:txBody>
      </p:sp>
      <p:sp>
        <p:nvSpPr>
          <p:cNvPr id="20" name="Result Box"/>
          <p:cNvSpPr/>
          <p:nvPr/>
        </p:nvSpPr>
        <p:spPr>
          <a:xfrm>
            <a:off x="4663440" y="4069080"/>
            <a:ext cx="4023360" cy="548640"/>
          </a:xfrm>
          <a:prstGeom prst="roundRect">
            <a:avLst>
              <a:gd name="adj" fmla="val 16667"/>
            </a:avLst>
          </a:prstGeom>
          <a:solidFill>
            <a:schemeClr val="accent1"/>
          </a:solidFill>
          <a:ln w="12700">
            <a:solidFill>
              <a:schemeClr val="accent1"/>
            </a:solidFill>
            <a:prstDash val="solid"/>
          </a:ln>
        </p:spPr>
      </p:sp>
      <p:sp>
        <p:nvSpPr>
          <p:cNvPr id="21" name="Result Text"/>
          <p:cNvSpPr txBox="1"/>
          <p:nvPr/>
        </p:nvSpPr>
        <p:spPr>
          <a:xfrm>
            <a:off x="4663440" y="4069080"/>
            <a:ext cx="4023360" cy="548640"/>
          </a:xfrm>
          <a:prstGeom prst="rect">
            <a:avLst/>
          </a:prstGeom>
          <a:noFill/>
          <a:ln/>
        </p:spPr>
        <p:txBody>
          <a:bodyPr wrap="square" lIns="1016" tIns="1016" rIns="1016" bIns="1016" rtlCol="0" anchor="ctr"/>
          <a:lstStyle/>
          <a:p>
            <a:pPr marL="0" indent="0" algn="ctr">
              <a:buNone/>
            </a:pPr>
            <a:r>
              <a:rPr lang="en-US" sz="1400" b="1" dirty="0">
                <a:solidFill>
                  <a:schemeClr val="bg1"/>
                </a:solidFill>
              </a:rPr>
              <a:t>Result: the parent reads the message written by the child</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320040"/>
            <a:ext cx="8229600" cy="685800"/>
          </a:xfrm>
          <a:prstGeom prst="rect">
            <a:avLst/>
          </a:prstGeom>
          <a:noFill/>
          <a:ln/>
        </p:spPr>
        <p:txBody>
          <a:bodyPr wrap="square" lIns="0" tIns="0" rIns="0" bIns="0" rtlCol="0" anchor="ctr"/>
          <a:lstStyle/>
          <a:p>
            <a:pPr marL="0" indent="0" algn="l">
              <a:buNone/>
            </a:pPr>
            <a:r>
              <a:rPr lang="en-US" sz="3000" b="1" dirty="0">
                <a:solidFill>
                  <a:schemeClr val="bg1"/>
                </a:solidFill>
              </a:rPr>
              <a:t>Conclusion and Future Scope</a:t>
            </a:r>
            <a:endParaRPr lang="en-US" sz="3000" dirty="0"/>
          </a:p>
        </p:txBody>
      </p:sp>
      <p:sp>
        <p:nvSpPr>
          <p:cNvPr id="3" name="Works Card"/>
          <p:cNvSpPr/>
          <p:nvPr/>
        </p:nvSpPr>
        <p:spPr>
          <a:xfrm>
            <a:off x="457200" y="1234440"/>
            <a:ext cx="4023360" cy="3383280"/>
          </a:xfrm>
          <a:prstGeom prst="roundRect">
            <a:avLst>
              <a:gd name="adj" fmla="val 2703"/>
            </a:avLst>
          </a:prstGeom>
          <a:solidFill>
            <a:schemeClr val="tx2"/>
          </a:solidFill>
          <a:ln w="12700">
            <a:solidFill>
              <a:schemeClr val="tx2"/>
            </a:solidFill>
            <a:prstDash val="solid"/>
          </a:ln>
        </p:spPr>
      </p:sp>
      <p:sp>
        <p:nvSpPr>
          <p:cNvPr id="4" name="Works Heading"/>
          <p:cNvSpPr txBox="1"/>
          <p:nvPr/>
        </p:nvSpPr>
        <p:spPr>
          <a:xfrm>
            <a:off x="731520" y="1371600"/>
            <a:ext cx="3474720" cy="411480"/>
          </a:xfrm>
          <a:prstGeom prst="rect">
            <a:avLst/>
          </a:prstGeom>
          <a:noFill/>
          <a:ln/>
        </p:spPr>
        <p:txBody>
          <a:bodyPr wrap="square" lIns="0" tIns="0" rIns="0" bIns="0" rtlCol="0" anchor="ctr"/>
          <a:lstStyle/>
          <a:p>
            <a:pPr marL="0" indent="0">
              <a:buNone/>
            </a:pPr>
            <a:r>
              <a:rPr lang="en-US" sz="2000" b="1" dirty="0">
                <a:solidFill>
                  <a:schemeClr val="accent6"/>
                </a:solidFill>
              </a:rPr>
              <a:t>What works</a:t>
            </a:r>
            <a:endParaRPr lang="en-US" sz="2000" dirty="0"/>
          </a:p>
        </p:txBody>
      </p:sp>
      <p:sp>
        <p:nvSpPr>
          <p:cNvPr id="5" name="Works Chip"/>
          <p:cNvSpPr/>
          <p:nvPr/>
        </p:nvSpPr>
        <p:spPr>
          <a:xfrm>
            <a:off x="731520" y="1828800"/>
            <a:ext cx="2468880" cy="274320"/>
          </a:xfrm>
          <a:prstGeom prst="roundRect">
            <a:avLst>
              <a:gd name="adj" fmla="val 26667"/>
            </a:avLst>
          </a:prstGeom>
          <a:solidFill>
            <a:schemeClr val="accent1"/>
          </a:solidFill>
          <a:ln w="12700">
            <a:solidFill>
              <a:schemeClr val="accent1"/>
            </a:solidFill>
            <a:prstDash val="solid"/>
          </a:ln>
        </p:spPr>
      </p:sp>
      <p:sp>
        <p:nvSpPr>
          <p:cNvPr id="6" name="Works Chip Text"/>
          <p:cNvSpPr txBox="1"/>
          <p:nvPr/>
        </p:nvSpPr>
        <p:spPr>
          <a:xfrm>
            <a:off x="731520" y="1828800"/>
            <a:ext cx="2468880" cy="274320"/>
          </a:xfrm>
          <a:prstGeom prst="rect">
            <a:avLst/>
          </a:prstGeom>
          <a:noFill/>
          <a:ln/>
        </p:spPr>
        <p:txBody>
          <a:bodyPr wrap="square" lIns="0" tIns="0" rIns="0" bIns="0" rtlCol="0" anchor="ctr"/>
          <a:lstStyle/>
          <a:p>
            <a:pPr marL="0" indent="0" algn="ctr">
              <a:buNone/>
            </a:pPr>
            <a:r>
              <a:rPr lang="en-US" sz="1100" b="1" dirty="0">
                <a:solidFill>
                  <a:schemeClr val="bg1"/>
                </a:solidFill>
              </a:rPr>
              <a:t>WORKING IN OUR DEMO</a:t>
            </a:r>
            <a:endParaRPr lang="en-US" sz="1100" dirty="0"/>
          </a:p>
        </p:txBody>
      </p:sp>
      <p:sp>
        <p:nvSpPr>
          <p:cNvPr id="7" name="Works Bullets"/>
          <p:cNvSpPr txBox="1"/>
          <p:nvPr/>
        </p:nvSpPr>
        <p:spPr>
          <a:xfrm>
            <a:off x="731520" y="2286000"/>
            <a:ext cx="347472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Parent and child share one memory region (POSIX shared memory).</a:t>
            </a:r>
            <a:endParaRPr lang="en-US" sz="1400" dirty="0"/>
          </a:p>
          <a:p>
            <a:pPr marL="342900" indent="-342900">
              <a:spcAft>
                <a:spcPts val="1000"/>
              </a:spcAft>
              <a:buSzPct val="100000"/>
              <a:buChar char="•"/>
            </a:pPr>
            <a:r>
              <a:rPr lang="en-US" sz="1400" dirty="0">
                <a:solidFill>
                  <a:schemeClr val="bg1"/>
                </a:solidFill>
              </a:rPr>
              <a:t>A named semaphore coordinates access.</a:t>
            </a:r>
            <a:endParaRPr lang="en-US" sz="1400" dirty="0"/>
          </a:p>
          <a:p>
            <a:pPr marL="342900" indent="-342900">
              <a:spcAft>
                <a:spcPts val="1000"/>
              </a:spcAft>
              <a:buSzPct val="100000"/>
              <a:buChar char="•"/>
            </a:pPr>
            <a:r>
              <a:rPr lang="en-US" sz="1400" dirty="0">
                <a:solidFill>
                  <a:schemeClr val="bg1"/>
                </a:solidFill>
              </a:rPr>
              <a:t>The child writes a message and the parent reads it.</a:t>
            </a:r>
            <a:endParaRPr lang="en-US" sz="1400" dirty="0"/>
          </a:p>
          <a:p>
            <a:pPr marL="342900" indent="-342900">
              <a:spcAft>
                <a:spcPts val="1000"/>
              </a:spcAft>
              <a:buSzPct val="100000"/>
              <a:buChar char="•"/>
            </a:pPr>
            <a:r>
              <a:rPr lang="en-US" sz="1400" dirty="0">
                <a:solidFill>
                  <a:schemeClr val="bg1"/>
                </a:solidFill>
              </a:rPr>
              <a:t>The C demo runs from a React + Express webpage.</a:t>
            </a:r>
            <a:endParaRPr lang="en-US" sz="1400" dirty="0"/>
          </a:p>
        </p:txBody>
      </p:sp>
      <p:sp>
        <p:nvSpPr>
          <p:cNvPr id="8" name="Future Card"/>
          <p:cNvSpPr/>
          <p:nvPr/>
        </p:nvSpPr>
        <p:spPr>
          <a:xfrm>
            <a:off x="4663440" y="1234440"/>
            <a:ext cx="4023360" cy="3383280"/>
          </a:xfrm>
          <a:prstGeom prst="roundRect">
            <a:avLst>
              <a:gd name="adj" fmla="val 2703"/>
            </a:avLst>
          </a:prstGeom>
          <a:solidFill>
            <a:schemeClr val="tx2"/>
          </a:solidFill>
          <a:ln w="12700">
            <a:solidFill>
              <a:schemeClr val="tx2"/>
            </a:solidFill>
            <a:prstDash val="solid"/>
          </a:ln>
        </p:spPr>
      </p:sp>
      <p:sp>
        <p:nvSpPr>
          <p:cNvPr id="9" name="Future Heading"/>
          <p:cNvSpPr txBox="1"/>
          <p:nvPr/>
        </p:nvSpPr>
        <p:spPr>
          <a:xfrm>
            <a:off x="4937760" y="1371600"/>
            <a:ext cx="3474720" cy="411480"/>
          </a:xfrm>
          <a:prstGeom prst="rect">
            <a:avLst/>
          </a:prstGeom>
          <a:noFill/>
          <a:ln/>
        </p:spPr>
        <p:txBody>
          <a:bodyPr wrap="square" lIns="0" tIns="0" rIns="0" bIns="0" rtlCol="0" anchor="ctr"/>
          <a:lstStyle/>
          <a:p>
            <a:pPr marL="0" indent="0">
              <a:buNone/>
            </a:pPr>
            <a:r>
              <a:rPr lang="en-US" sz="2000" b="1" dirty="0">
                <a:solidFill>
                  <a:schemeClr val="accent6"/>
                </a:solidFill>
              </a:rPr>
              <a:t>Future scope</a:t>
            </a:r>
            <a:endParaRPr lang="en-US" sz="2000" dirty="0"/>
          </a:p>
        </p:txBody>
      </p:sp>
      <p:sp>
        <p:nvSpPr>
          <p:cNvPr id="10" name="Future Chip"/>
          <p:cNvSpPr/>
          <p:nvPr/>
        </p:nvSpPr>
        <p:spPr>
          <a:xfrm>
            <a:off x="4937760" y="1828800"/>
            <a:ext cx="2468880" cy="274320"/>
          </a:xfrm>
          <a:prstGeom prst="roundRect">
            <a:avLst>
              <a:gd name="adj" fmla="val 26667"/>
            </a:avLst>
          </a:prstGeom>
          <a:solidFill>
            <a:schemeClr val="accent2"/>
          </a:solidFill>
          <a:ln w="12700">
            <a:solidFill>
              <a:schemeClr val="accent2"/>
            </a:solidFill>
            <a:prstDash val="solid"/>
          </a:ln>
        </p:spPr>
      </p:sp>
      <p:sp>
        <p:nvSpPr>
          <p:cNvPr id="11" name="Future Chip Text"/>
          <p:cNvSpPr txBox="1"/>
          <p:nvPr/>
        </p:nvSpPr>
        <p:spPr>
          <a:xfrm>
            <a:off x="4937760" y="1828800"/>
            <a:ext cx="2468880" cy="274320"/>
          </a:xfrm>
          <a:prstGeom prst="rect">
            <a:avLst/>
          </a:prstGeom>
          <a:noFill/>
          <a:ln/>
        </p:spPr>
        <p:txBody>
          <a:bodyPr wrap="square" lIns="0" tIns="0" rIns="0" bIns="0" rtlCol="0" anchor="ctr"/>
          <a:lstStyle/>
          <a:p>
            <a:pPr marL="0" indent="0" algn="ctr">
              <a:buNone/>
            </a:pPr>
            <a:r>
              <a:rPr lang="en-US" sz="1100" b="1" dirty="0">
                <a:solidFill>
                  <a:schemeClr val="tx1"/>
                </a:solidFill>
              </a:rPr>
              <a:t>PROPOSED, NOT IMPLEMENTED</a:t>
            </a:r>
            <a:endParaRPr lang="en-US" sz="1100" dirty="0"/>
          </a:p>
        </p:txBody>
      </p:sp>
      <p:sp>
        <p:nvSpPr>
          <p:cNvPr id="12" name="Future Bullets"/>
          <p:cNvSpPr txBox="1"/>
          <p:nvPr/>
        </p:nvSpPr>
        <p:spPr>
          <a:xfrm>
            <a:off x="4937760" y="2286000"/>
            <a:ext cx="3474720" cy="2194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Support more than one child process.</a:t>
            </a:r>
            <a:endParaRPr lang="en-US" sz="1400" dirty="0"/>
          </a:p>
          <a:p>
            <a:pPr marL="342900" indent="-342900">
              <a:spcAft>
                <a:spcPts val="1000"/>
              </a:spcAft>
              <a:buSzPct val="100000"/>
              <a:buChar char="•"/>
            </a:pPr>
            <a:r>
              <a:rPr lang="en-US" sz="1400" dirty="0">
                <a:solidFill>
                  <a:schemeClr val="bg1"/>
                </a:solidFill>
              </a:rPr>
              <a:t>Exchange larger or structured messages.</a:t>
            </a:r>
            <a:endParaRPr lang="en-US" sz="1400" dirty="0"/>
          </a:p>
          <a:p>
            <a:pPr marL="342900" indent="-342900">
              <a:spcAft>
                <a:spcPts val="1000"/>
              </a:spcAft>
              <a:buSzPct val="100000"/>
              <a:buChar char="•"/>
            </a:pPr>
            <a:r>
              <a:rPr lang="en-US" sz="1400" dirty="0">
                <a:solidFill>
                  <a:schemeClr val="bg1"/>
                </a:solidFill>
              </a:rPr>
              <a:t>Add more error handling and checks.</a:t>
            </a:r>
            <a:endParaRPr lang="en-US" sz="1400" dirty="0"/>
          </a:p>
          <a:p>
            <a:pPr marL="342900" indent="-342900">
              <a:spcAft>
                <a:spcPts val="1000"/>
              </a:spcAft>
              <a:buSzPct val="100000"/>
              <a:buChar char="•"/>
            </a:pPr>
            <a:r>
              <a:rPr lang="en-US" sz="1400" dirty="0">
                <a:solidFill>
                  <a:schemeClr val="bg1"/>
                </a:solidFill>
              </a:rPr>
              <a:t>Show more detailed status on the webpage.</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OS Hackathon Tech">
  <a:themeElements>
    <a:clrScheme name="OS Hackathon Tech">
      <a:dk1>
        <a:srgbClr val="0F172A"/>
      </a:dk1>
      <a:lt1>
        <a:srgbClr val="FFFFFF"/>
      </a:lt1>
      <a:dk2>
        <a:srgbClr val="1E293B"/>
      </a:dk2>
      <a:lt2>
        <a:srgbClr val="F1F5F9"/>
      </a:lt2>
      <a:accent1>
        <a:srgbClr val="0F766E"/>
      </a:accent1>
      <a:accent2>
        <a:srgbClr val="F59E0B"/>
      </a:accent2>
      <a:accent3>
        <a:srgbClr val="4F46E5"/>
      </a:accent3>
      <a:accent4>
        <a:srgbClr val="0369A1"/>
      </a:accent4>
      <a:accent5>
        <a:srgbClr val="64748B"/>
      </a:accent5>
      <a:accent6>
        <a:srgbClr val="5EEAD4"/>
      </a:accent6>
      <a:hlink>
        <a:srgbClr val="0369A1"/>
      </a:hlink>
      <a:folHlink>
        <a:srgbClr val="4F46E5"/>
      </a:folHlink>
    </a:clrScheme>
    <a:fontScheme name="OS Hackathon Te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1390</Words>
  <Application>Microsoft Office PowerPoint</Application>
  <PresentationFormat>On-screen Show (16:9)</PresentationFormat>
  <Paragraphs>102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OS Hackathon Tech</vt:lpstr>
      <vt:lpstr>Shared Memory Based Data Exchange System</vt:lpstr>
      <vt:lpstr>Problem Statement</vt:lpstr>
      <vt:lpstr>Project Objectives and Concept</vt:lpstr>
      <vt:lpstr>System Architecture</vt:lpstr>
      <vt:lpstr>Implementation and Working</vt:lpstr>
      <vt:lpstr>Demo and Results</vt:lpstr>
      <vt:lpstr>Conclusion and Future Scope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Shared Memory Based Data Exchange System</dc:title>
  <dc:subject>PptxGenJS Presentation</dc:subject>
  <dc:creator>Team 17 - Section 9</dc:creator>
  <cp:lastModifiedBy>poojitha reddy</cp:lastModifiedBy>
  <cp:revision>2</cp:revision>
  <dcterms:created xsi:type="dcterms:W3CDTF">2026-10-17T05:02:19Z</dcterms:created>
  <dcterms:modified xsi:type="dcterms:W3CDTF">2026-10-17T05:04:15Z</dcterms:modified>
</cp:coreProperties>
</file>